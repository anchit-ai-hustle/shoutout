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Year 5 revenue (₹cr)</c:v>
                </c:pt>
              </c:strCache>
            </c:strRef>
          </c:tx>
          <c:spPr>
            <a:solidFill>
              <a:srgbClr val="C1272D"/>
            </a:solidFill>
            <a:effectLst/>
          </c:spPr>
          <c:invertIfNegative val="0"/>
          <c:dLbls>
            <c:numFmt formatCode="0.0" sourceLinked="0"/>
            <c:txPr>
              <a:bodyPr/>
              <a:lstStyle/>
              <a:p>
                <a:pPr>
                  <a:defRPr b="0" i="0" strike="noStrike" sz="1100" u="none">
                    <a:solidFill>
                      <a:srgbClr val="16181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Gig take rate</c:v>
                  </c:pt>
                  <c:pt idx="1">
                    <c:v>Manager OS SaaS</c:v>
                  </c:pt>
                  <c:pt idx="2">
                    <c:v>Advance (financing)</c:v>
                  </c:pt>
                  <c:pt idx="3">
                    <c:v>Stage — show</c:v>
                  </c:pt>
                  <c:pt idx="4">
                    <c:v>A&amp;R data</c:v>
                  </c:pt>
                  <c:pt idx="5">
                    <c:v>Sponsorship</c:v>
                  </c:pt>
                  <c:pt idx="6">
                    <c:v>Sync</c:v>
                  </c:pt>
                </c:lvl>
              </c:multiLvlStrCache>
            </c:multiLvlStrRef>
          </c:cat>
          <c:val>
            <c:numRef>
              <c:f>Sheet1!$B$2:$B$8</c:f>
              <c:numCache>
                <c:formatCode>General</c:formatCode>
                <c:ptCount val="7"/>
                <c:pt idx="0">
                  <c:v>27.2</c:v>
                </c:pt>
                <c:pt idx="1">
                  <c:v>24</c:v>
                </c:pt>
                <c:pt idx="2">
                  <c:v>16.2</c:v>
                </c:pt>
                <c:pt idx="3">
                  <c:v>14</c:v>
                </c:pt>
                <c:pt idx="4">
                  <c:v>8.1</c:v>
                </c:pt>
                <c:pt idx="5">
                  <c:v>6</c:v>
                </c:pt>
                <c:pt idx="6">
                  <c:v>3.6</c:v>
                </c:pt>
              </c:numCache>
            </c:numRef>
          </c:val>
        </c:ser>
        <c:dLbls>
          <c:numFmt formatCode="0.0" sourceLinked="0"/>
          <c:txPr>
            <a:bodyPr/>
            <a:lstStyle/>
            <a:p>
              <a:pPr>
                <a:defRPr b="0" i="0" strike="noStrike" sz="1100" u="none">
                  <a:solidFill>
                    <a:srgbClr val="1618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181B"/>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12700" cap="flat">
              <a:solidFill>
                <a:srgbClr val="D6D1C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A6F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hook, not the company: India live music grew to ₹13,000 crore. Almost none of that money reaches artists on time — and almost none of the music gets made through any system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has named live events the fastest-growing segment of media and entertainment, with a single-window clearance system and a centralised music licensing registry in motion. Tailwind, and it means rules change during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100k monthly Spotify listeners is about ₹1 lakh a month before distributor cuts. Streaming is visibility, not income. The income is gigs, collabs, sync and splits — and none of it has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point. Four products collapse into one object with one match engine, one escrow rail, one reliability score. Users learn one mental model; engineering builds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demo every module. Show the Collab flow end to end — post a Shout with two slots, get answers, sign the split, stems release. That single flow explains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 ship Collab before gig booking, even though gigs carry the GMV. Collab proves the primitive at the lowest possible cost and creates the habit that makes everything else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rejection sequence is the product: scorecard, free auto-generated EPK, open gigs in your city, invite to the platform. Rejection becomes onboarding. Target conversion above 60% — the single most important number in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arithmetic, not just the number. Every founder shows a TAM; almost none show how they got there. The build-up is the credibility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assumes an NBFC co-lending partner, not balance-sheet lending. State that before an investor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byproducts of transactions we already process. Zero marginal cost, compounding value, and no incumbent holds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comparables: UnitedMasters, DistroKid, Beatstars, Bandsintown, BookMyShow/District, StarClinch. Each occupies one cell. None holds the transaction rail on the artist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concierge phase is deliberate. The schema comes from the market, not from a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gaps yourself is stronger than being asked. It signals you have modelled the org, not just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manifesto line. State the raise amount and the split across product, season production and market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2057400"/>
            <a:ext cx="10607040" cy="1371600"/>
          </a:xfrm>
          <a:prstGeom prst="rect">
            <a:avLst/>
          </a:prstGeom>
          <a:noFill/>
          <a:ln/>
        </p:spPr>
        <p:txBody>
          <a:bodyPr wrap="square" lIns="0" tIns="0" rIns="0" bIns="0" rtlCol="0" anchor="ctr"/>
          <a:lstStyle/>
          <a:p>
            <a:pPr indent="0" marL="0">
              <a:buNone/>
            </a:pPr>
            <a:r>
              <a:rPr lang="en-US" sz="7600" b="1" spc="200" kern="0" dirty="0">
                <a:solidFill>
                  <a:srgbClr val="FFFFFF"/>
                </a:solidFill>
                <a:latin typeface="Bookman Old Style" pitchFamily="34" charset="0"/>
                <a:ea typeface="Bookman Old Style" pitchFamily="34" charset="-122"/>
                <a:cs typeface="Bookman Old Style" pitchFamily="34" charset="-120"/>
              </a:rPr>
              <a:t>SHOUTOUT</a:t>
            </a:r>
            <a:endParaRPr lang="en-US" sz="7600" dirty="0"/>
          </a:p>
        </p:txBody>
      </p:sp>
      <p:sp>
        <p:nvSpPr>
          <p:cNvPr id="3" name="Shape 1"/>
          <p:cNvSpPr/>
          <p:nvPr/>
        </p:nvSpPr>
        <p:spPr>
          <a:xfrm>
            <a:off x="777240" y="3520440"/>
            <a:ext cx="2834640" cy="82296"/>
          </a:xfrm>
          <a:prstGeom prst="rect">
            <a:avLst/>
          </a:prstGeom>
          <a:solidFill>
            <a:srgbClr val="C1272D"/>
          </a:solidFill>
          <a:ln/>
        </p:spPr>
      </p:sp>
      <p:sp>
        <p:nvSpPr>
          <p:cNvPr id="4" name="Text 2"/>
          <p:cNvSpPr/>
          <p:nvPr/>
        </p:nvSpPr>
        <p:spPr>
          <a:xfrm>
            <a:off x="777240" y="3767328"/>
            <a:ext cx="9601200" cy="457200"/>
          </a:xfrm>
          <a:prstGeom prst="rect">
            <a:avLst/>
          </a:prstGeom>
          <a:noFill/>
          <a:ln/>
        </p:spPr>
        <p:txBody>
          <a:bodyPr wrap="square" lIns="0" tIns="0" rIns="0" bIns="0" rtlCol="0" anchor="ctr"/>
          <a:lstStyle/>
          <a:p>
            <a:pPr indent="0" marL="0">
              <a:buNone/>
            </a:pPr>
            <a:r>
              <a:rPr lang="en-US" sz="2400" b="1" dirty="0">
                <a:solidFill>
                  <a:srgbClr val="E8B33A"/>
                </a:solidFill>
                <a:latin typeface="Bookman Old Style" pitchFamily="34" charset="0"/>
                <a:ea typeface="Bookman Old Style" pitchFamily="34" charset="-122"/>
                <a:cs typeface="Bookman Old Style" pitchFamily="34" charset="-120"/>
              </a:rPr>
              <a:t>Put out a shout. Someone answers.</a:t>
            </a:r>
            <a:endParaRPr lang="en-US" sz="2400" dirty="0"/>
          </a:p>
        </p:txBody>
      </p:sp>
      <p:sp>
        <p:nvSpPr>
          <p:cNvPr id="5" name="Text 3"/>
          <p:cNvSpPr/>
          <p:nvPr/>
        </p:nvSpPr>
        <p:spPr>
          <a:xfrm>
            <a:off x="777240" y="4315968"/>
            <a:ext cx="9601200" cy="685800"/>
          </a:xfrm>
          <a:prstGeom prst="rect">
            <a:avLst/>
          </a:prstGeom>
          <a:noFill/>
          <a:ln/>
        </p:spPr>
        <p:txBody>
          <a:bodyPr wrap="square" lIns="0" tIns="0" rIns="0" bIns="0" rtlCol="0" anchor="ctr"/>
          <a:lstStyle/>
          <a:p>
            <a:pPr indent="0" marL="0">
              <a:lnSpc>
                <a:spcPts val="2100"/>
              </a:lnSpc>
              <a:buNone/>
            </a:pPr>
            <a:r>
              <a:rPr lang="en-US" sz="1500" dirty="0">
                <a:solidFill>
                  <a:srgbClr val="B9BFC6"/>
                </a:solidFill>
                <a:latin typeface="Calibri" pitchFamily="34" charset="0"/>
                <a:ea typeface="Calibri" pitchFamily="34" charset="-122"/>
                <a:cs typeface="Calibri" pitchFamily="34" charset="-120"/>
              </a:rPr>
              <a:t>The back office for independent music — where musicians find each other,</a:t>
            </a:r>
            <a:endParaRPr lang="en-US" sz="1500" dirty="0"/>
          </a:p>
          <a:p>
            <a:pPr indent="0" marL="0">
              <a:lnSpc>
                <a:spcPts val="2100"/>
              </a:lnSpc>
              <a:buNone/>
            </a:pPr>
            <a:r>
              <a:rPr lang="en-US" sz="1500" dirty="0">
                <a:solidFill>
                  <a:srgbClr val="B9BFC6"/>
                </a:solidFill>
                <a:latin typeface="Calibri" pitchFamily="34" charset="0"/>
                <a:ea typeface="Calibri" pitchFamily="34" charset="-122"/>
                <a:cs typeface="Calibri" pitchFamily="34" charset="-120"/>
              </a:rPr>
              <a:t>get booked, and actually get paid.</a:t>
            </a:r>
            <a:endParaRPr lang="en-US" sz="1500" dirty="0"/>
          </a:p>
        </p:txBody>
      </p:sp>
      <p:sp>
        <p:nvSpPr>
          <p:cNvPr id="6" name="Text 4"/>
          <p:cNvSpPr/>
          <p:nvPr/>
        </p:nvSpPr>
        <p:spPr>
          <a:xfrm>
            <a:off x="777240" y="5943600"/>
            <a:ext cx="7315200" cy="274320"/>
          </a:xfrm>
          <a:prstGeom prst="rect">
            <a:avLst/>
          </a:prstGeom>
          <a:noFill/>
          <a:ln/>
        </p:spPr>
        <p:txBody>
          <a:bodyPr wrap="square" lIns="0" tIns="0" rIns="0" bIns="0" rtlCol="0" anchor="ctr"/>
          <a:lstStyle/>
          <a:p>
            <a:pPr indent="0" marL="0">
              <a:buNone/>
            </a:pPr>
            <a:r>
              <a:rPr lang="en-US" sz="1200" dirty="0">
                <a:solidFill>
                  <a:srgbClr val="6A6F76"/>
                </a:solidFill>
                <a:latin typeface="Calibri" pitchFamily="34" charset="0"/>
                <a:ea typeface="Calibri" pitchFamily="34" charset="-122"/>
                <a:cs typeface="Calibri" pitchFamily="34" charset="-120"/>
              </a:rPr>
              <a:t>Anchit Tandon  ·  Founder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MOMENT</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The money arrived before</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the infrastructure</a:t>
            </a:r>
            <a:endParaRPr lang="en-US" sz="3400" dirty="0"/>
          </a:p>
        </p:txBody>
      </p:sp>
      <p:sp>
        <p:nvSpPr>
          <p:cNvPr id="4" name="Shape 2"/>
          <p:cNvSpPr/>
          <p:nvPr/>
        </p:nvSpPr>
        <p:spPr>
          <a:xfrm>
            <a:off x="777240" y="2926080"/>
            <a:ext cx="3291840" cy="1417320"/>
          </a:xfrm>
          <a:prstGeom prst="rect">
            <a:avLst/>
          </a:prstGeom>
          <a:solidFill>
            <a:srgbClr val="FFFFFF"/>
          </a:solidFill>
          <a:ln w="12700">
            <a:solidFill>
              <a:srgbClr val="D6D1C4"/>
            </a:solidFill>
            <a:prstDash val="solid"/>
          </a:ln>
        </p:spPr>
      </p:sp>
      <p:sp>
        <p:nvSpPr>
          <p:cNvPr id="5" name="Text 3"/>
          <p:cNvSpPr/>
          <p:nvPr/>
        </p:nvSpPr>
        <p:spPr>
          <a:xfrm>
            <a:off x="978408" y="3090672"/>
            <a:ext cx="2889504" cy="658368"/>
          </a:xfrm>
          <a:prstGeom prst="rect">
            <a:avLst/>
          </a:prstGeom>
          <a:noFill/>
          <a:ln/>
        </p:spPr>
        <p:txBody>
          <a:bodyPr wrap="square" lIns="0" tIns="0" rIns="0" bIns="0" rtlCol="0" anchor="ctr"/>
          <a:lstStyle/>
          <a:p>
            <a:pPr indent="0" marL="0">
              <a:buNone/>
            </a:pPr>
            <a:r>
              <a:rPr lang="en-US" sz="3000" b="1" dirty="0">
                <a:solidFill>
                  <a:srgbClr val="16181B"/>
                </a:solidFill>
                <a:latin typeface="Bookman Old Style" pitchFamily="34" charset="0"/>
                <a:ea typeface="Bookman Old Style" pitchFamily="34" charset="-122"/>
                <a:cs typeface="Bookman Old Style" pitchFamily="34" charset="-120"/>
              </a:rPr>
              <a:t>₹13,000cr</a:t>
            </a:r>
            <a:endParaRPr lang="en-US" sz="3000" dirty="0"/>
          </a:p>
        </p:txBody>
      </p:sp>
      <p:sp>
        <p:nvSpPr>
          <p:cNvPr id="6" name="Text 4"/>
          <p:cNvSpPr/>
          <p:nvPr/>
        </p:nvSpPr>
        <p:spPr>
          <a:xfrm>
            <a:off x="978408" y="379476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India organised live events, 2026</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$1.53B · EY-Parthenon / BookMyShow</a:t>
            </a:r>
            <a:endParaRPr lang="en-US" sz="1100" dirty="0"/>
          </a:p>
        </p:txBody>
      </p:sp>
      <p:sp>
        <p:nvSpPr>
          <p:cNvPr id="7" name="Shape 5"/>
          <p:cNvSpPr/>
          <p:nvPr/>
        </p:nvSpPr>
        <p:spPr>
          <a:xfrm>
            <a:off x="4297680" y="2926080"/>
            <a:ext cx="3291840" cy="1417320"/>
          </a:xfrm>
          <a:prstGeom prst="rect">
            <a:avLst/>
          </a:prstGeom>
          <a:solidFill>
            <a:srgbClr val="FFFFFF"/>
          </a:solidFill>
          <a:ln w="12700">
            <a:solidFill>
              <a:srgbClr val="D6D1C4"/>
            </a:solidFill>
            <a:prstDash val="solid"/>
          </a:ln>
        </p:spPr>
      </p:sp>
      <p:sp>
        <p:nvSpPr>
          <p:cNvPr id="8" name="Text 6"/>
          <p:cNvSpPr/>
          <p:nvPr/>
        </p:nvSpPr>
        <p:spPr>
          <a:xfrm>
            <a:off x="4498848" y="3090672"/>
            <a:ext cx="2889504" cy="658368"/>
          </a:xfrm>
          <a:prstGeom prst="rect">
            <a:avLst/>
          </a:prstGeom>
          <a:noFill/>
          <a:ln/>
        </p:spPr>
        <p:txBody>
          <a:bodyPr wrap="square" lIns="0" tIns="0" rIns="0" bIns="0" rtlCol="0" anchor="ctr"/>
          <a:lstStyle/>
          <a:p>
            <a:pPr indent="0" marL="0">
              <a:buNone/>
            </a:pPr>
            <a:r>
              <a:rPr lang="en-US" sz="3000" b="1" dirty="0">
                <a:solidFill>
                  <a:srgbClr val="C1272D"/>
                </a:solidFill>
                <a:latin typeface="Bookman Old Style" pitchFamily="34" charset="0"/>
                <a:ea typeface="Bookman Old Style" pitchFamily="34" charset="-122"/>
                <a:cs typeface="Bookman Old Style" pitchFamily="34" charset="-120"/>
              </a:rPr>
              <a:t>~19%</a:t>
            </a:r>
            <a:endParaRPr lang="en-US" sz="3000" dirty="0"/>
          </a:p>
        </p:txBody>
      </p:sp>
      <p:sp>
        <p:nvSpPr>
          <p:cNvPr id="9" name="Text 7"/>
          <p:cNvSpPr/>
          <p:nvPr/>
        </p:nvSpPr>
        <p:spPr>
          <a:xfrm>
            <a:off x="4498848" y="379476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CAGR, next three years</a:t>
            </a:r>
            <a:endParaRPr lang="en-US" sz="1100" dirty="0"/>
          </a:p>
        </p:txBody>
      </p:sp>
      <p:sp>
        <p:nvSpPr>
          <p:cNvPr id="10" name="Shape 8"/>
          <p:cNvSpPr/>
          <p:nvPr/>
        </p:nvSpPr>
        <p:spPr>
          <a:xfrm>
            <a:off x="7818120" y="2926080"/>
            <a:ext cx="3291840" cy="1417320"/>
          </a:xfrm>
          <a:prstGeom prst="rect">
            <a:avLst/>
          </a:prstGeom>
          <a:solidFill>
            <a:srgbClr val="FFFFFF"/>
          </a:solidFill>
          <a:ln w="12700">
            <a:solidFill>
              <a:srgbClr val="D6D1C4"/>
            </a:solidFill>
            <a:prstDash val="solid"/>
          </a:ln>
        </p:spPr>
      </p:sp>
      <p:sp>
        <p:nvSpPr>
          <p:cNvPr id="11" name="Text 9"/>
          <p:cNvSpPr/>
          <p:nvPr/>
        </p:nvSpPr>
        <p:spPr>
          <a:xfrm>
            <a:off x="8019288" y="3090672"/>
            <a:ext cx="2889504" cy="658368"/>
          </a:xfrm>
          <a:prstGeom prst="rect">
            <a:avLst/>
          </a:prstGeom>
          <a:noFill/>
          <a:ln/>
        </p:spPr>
        <p:txBody>
          <a:bodyPr wrap="square" lIns="0" tIns="0" rIns="0" bIns="0" rtlCol="0" anchor="ctr"/>
          <a:lstStyle/>
          <a:p>
            <a:pPr indent="0" marL="0">
              <a:buNone/>
            </a:pPr>
            <a:r>
              <a:rPr lang="en-US" sz="3000" b="1" dirty="0">
                <a:solidFill>
                  <a:srgbClr val="14456F"/>
                </a:solidFill>
                <a:latin typeface="Bookman Old Style" pitchFamily="34" charset="0"/>
                <a:ea typeface="Bookman Old Style" pitchFamily="34" charset="-122"/>
                <a:cs typeface="Bookman Old Style" pitchFamily="34" charset="-120"/>
              </a:rPr>
              <a:t>+40%</a:t>
            </a:r>
            <a:endParaRPr lang="en-US" sz="3000" dirty="0"/>
          </a:p>
        </p:txBody>
      </p:sp>
      <p:sp>
        <p:nvSpPr>
          <p:cNvPr id="12" name="Text 10"/>
          <p:cNvSpPr/>
          <p:nvPr/>
        </p:nvSpPr>
        <p:spPr>
          <a:xfrm>
            <a:off x="8019288" y="379476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Non-Bollywood concerts outdrawing</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Bollywood in metros</a:t>
            </a:r>
            <a:endParaRPr lang="en-US" sz="1100" dirty="0"/>
          </a:p>
        </p:txBody>
      </p:sp>
      <p:sp>
        <p:nvSpPr>
          <p:cNvPr id="13" name="Text 11"/>
          <p:cNvSpPr/>
          <p:nvPr/>
        </p:nvSpPr>
        <p:spPr>
          <a:xfrm>
            <a:off x="777240" y="4709160"/>
            <a:ext cx="10607040" cy="365760"/>
          </a:xfrm>
          <a:prstGeom prst="rect">
            <a:avLst/>
          </a:prstGeom>
          <a:noFill/>
          <a:ln/>
        </p:spPr>
        <p:txBody>
          <a:bodyPr wrap="square" lIns="0" tIns="0" rIns="0" bIns="0" rtlCol="0" anchor="ctr"/>
          <a:lstStyle/>
          <a:p>
            <a:pPr indent="0" marL="0">
              <a:buNone/>
            </a:pPr>
            <a:r>
              <a:rPr lang="en-US" sz="1500" i="1" dirty="0">
                <a:solidFill>
                  <a:srgbClr val="16181B"/>
                </a:solidFill>
                <a:latin typeface="Calibri" pitchFamily="34" charset="0"/>
                <a:ea typeface="Calibri" pitchFamily="34" charset="-122"/>
                <a:cs typeface="Calibri" pitchFamily="34" charset="-120"/>
              </a:rPr>
              <a:t>This market does not need to be created. It arrived without plumbing.</a:t>
            </a:r>
            <a:endParaRPr lang="en-US" sz="1500" dirty="0"/>
          </a:p>
        </p:txBody>
      </p:sp>
      <p:sp>
        <p:nvSpPr>
          <p:cNvPr id="14" name="Text 12"/>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5" name="Text 13"/>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Two broken things, one missing layer</a:t>
            </a:r>
            <a:endParaRPr lang="en-US" sz="3400" dirty="0"/>
          </a:p>
        </p:txBody>
      </p:sp>
      <p:sp>
        <p:nvSpPr>
          <p:cNvPr id="4" name="Shape 2"/>
          <p:cNvSpPr/>
          <p:nvPr/>
        </p:nvSpPr>
        <p:spPr>
          <a:xfrm>
            <a:off x="777240" y="2286000"/>
            <a:ext cx="5029200" cy="3017520"/>
          </a:xfrm>
          <a:prstGeom prst="rect">
            <a:avLst/>
          </a:prstGeom>
          <a:solidFill>
            <a:srgbClr val="FFFFFF"/>
          </a:solidFill>
          <a:ln w="12700">
            <a:solidFill>
              <a:srgbClr val="D6D1C4"/>
            </a:solidFill>
            <a:prstDash val="solid"/>
          </a:ln>
        </p:spPr>
      </p:sp>
      <p:sp>
        <p:nvSpPr>
          <p:cNvPr id="5" name="Text 3"/>
          <p:cNvSpPr/>
          <p:nvPr/>
        </p:nvSpPr>
        <p:spPr>
          <a:xfrm>
            <a:off x="1051560" y="2514600"/>
            <a:ext cx="4572000" cy="320040"/>
          </a:xfrm>
          <a:prstGeom prst="rect">
            <a:avLst/>
          </a:prstGeom>
          <a:noFill/>
          <a:ln/>
        </p:spPr>
        <p:txBody>
          <a:bodyPr wrap="square" lIns="0" tIns="0" rIns="0" bIns="0" rtlCol="0" anchor="ctr"/>
          <a:lstStyle/>
          <a:p>
            <a:pPr indent="0" marL="0">
              <a:buNone/>
            </a:pPr>
            <a:r>
              <a:rPr lang="en-US" sz="1600" b="1" dirty="0">
                <a:solidFill>
                  <a:srgbClr val="C1272D"/>
                </a:solidFill>
                <a:latin typeface="Calibri" pitchFamily="34" charset="0"/>
                <a:ea typeface="Calibri" pitchFamily="34" charset="-122"/>
                <a:cs typeface="Calibri" pitchFamily="34" charset="-120"/>
              </a:rPr>
              <a:t>Making music</a:t>
            </a:r>
            <a:endParaRPr lang="en-US" sz="1600" dirty="0"/>
          </a:p>
        </p:txBody>
      </p:sp>
      <p:sp>
        <p:nvSpPr>
          <p:cNvPr id="6" name="Text 4"/>
          <p:cNvSpPr/>
          <p:nvPr/>
        </p:nvSpPr>
        <p:spPr>
          <a:xfrm>
            <a:off x="1051560" y="2926080"/>
            <a:ext cx="452628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A producer needs a vocalist and finds one in Instagram DMs, or not at all</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Splits agreed verbally, discovered years later when money arrives</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No way to describe the sound you want to someone who could sing it</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Credits vanish — session players and writers go unrecorded</a:t>
            </a:r>
            <a:endParaRPr lang="en-US" sz="1250" dirty="0"/>
          </a:p>
        </p:txBody>
      </p:sp>
      <p:sp>
        <p:nvSpPr>
          <p:cNvPr id="7" name="Shape 5"/>
          <p:cNvSpPr/>
          <p:nvPr/>
        </p:nvSpPr>
        <p:spPr>
          <a:xfrm>
            <a:off x="6172200" y="2286000"/>
            <a:ext cx="5029200" cy="3017520"/>
          </a:xfrm>
          <a:prstGeom prst="rect">
            <a:avLst/>
          </a:prstGeom>
          <a:solidFill>
            <a:srgbClr val="FFFFFF"/>
          </a:solidFill>
          <a:ln w="12700">
            <a:solidFill>
              <a:srgbClr val="D6D1C4"/>
            </a:solidFill>
            <a:prstDash val="solid"/>
          </a:ln>
        </p:spPr>
      </p:sp>
      <p:sp>
        <p:nvSpPr>
          <p:cNvPr id="8" name="Text 6"/>
          <p:cNvSpPr/>
          <p:nvPr/>
        </p:nvSpPr>
        <p:spPr>
          <a:xfrm>
            <a:off x="6446520" y="2514600"/>
            <a:ext cx="4572000" cy="320040"/>
          </a:xfrm>
          <a:prstGeom prst="rect">
            <a:avLst/>
          </a:prstGeom>
          <a:noFill/>
          <a:ln/>
        </p:spPr>
        <p:txBody>
          <a:bodyPr wrap="square" lIns="0" tIns="0" rIns="0" bIns="0" rtlCol="0" anchor="ctr"/>
          <a:lstStyle/>
          <a:p>
            <a:pPr indent="0" marL="0">
              <a:buNone/>
            </a:pPr>
            <a:r>
              <a:rPr lang="en-US" sz="1600" b="1" dirty="0">
                <a:solidFill>
                  <a:srgbClr val="C1272D"/>
                </a:solidFill>
                <a:latin typeface="Calibri" pitchFamily="34" charset="0"/>
                <a:ea typeface="Calibri" pitchFamily="34" charset="-122"/>
                <a:cs typeface="Calibri" pitchFamily="34" charset="-120"/>
              </a:rPr>
              <a:t>Getting paid for it</a:t>
            </a:r>
            <a:endParaRPr lang="en-US" sz="1600" dirty="0"/>
          </a:p>
        </p:txBody>
      </p:sp>
      <p:sp>
        <p:nvSpPr>
          <p:cNvPr id="9" name="Text 7"/>
          <p:cNvSpPr/>
          <p:nvPr/>
        </p:nvSpPr>
        <p:spPr>
          <a:xfrm>
            <a:off x="6446520" y="2926080"/>
            <a:ext cx="452628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Verbal date holds — double-bookings are routine</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Quotes from gut; artists routinely price 40–60% under market</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Fees delayed 30–90 days, part-paid, or never paid</a:t>
            </a:r>
            <a:endParaRPr lang="en-US" sz="1250" dirty="0"/>
          </a:p>
          <a:p>
            <a:pPr marL="342900" indent="-342900">
              <a:spcAft>
                <a:spcPts val="800"/>
              </a:spcAft>
              <a:buSzPct val="100000"/>
              <a:buChar char="•"/>
            </a:pPr>
            <a:r>
              <a:rPr lang="en-US" sz="1250" dirty="0">
                <a:solidFill>
                  <a:srgbClr val="16181B"/>
                </a:solidFill>
                <a:latin typeface="Calibri" pitchFamily="34" charset="0"/>
                <a:ea typeface="Calibri" pitchFamily="34" charset="-122"/>
                <a:cs typeface="Calibri" pitchFamily="34" charset="-120"/>
              </a:rPr>
              <a:t>Sidemen paid last, least, sometimes not at all</a:t>
            </a:r>
            <a:endParaRPr lang="en-US" sz="1250" dirty="0"/>
          </a:p>
        </p:txBody>
      </p:sp>
      <p:sp>
        <p:nvSpPr>
          <p:cNvPr id="10" name="Text 8"/>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1" name="Text 9"/>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IDEA</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One object. Every surface.</a:t>
            </a:r>
            <a:endParaRPr lang="en-US" sz="3400" dirty="0"/>
          </a:p>
        </p:txBody>
      </p:sp>
      <p:sp>
        <p:nvSpPr>
          <p:cNvPr id="4" name="Text 2"/>
          <p:cNvSpPr/>
          <p:nvPr/>
        </p:nvSpPr>
        <p:spPr>
          <a:xfrm>
            <a:off x="777240" y="1874520"/>
            <a:ext cx="10058400" cy="411480"/>
          </a:xfrm>
          <a:prstGeom prst="rect">
            <a:avLst/>
          </a:prstGeom>
          <a:noFill/>
          <a:ln/>
        </p:spPr>
        <p:txBody>
          <a:bodyPr wrap="square" lIns="0" tIns="0" rIns="0" bIns="0" rtlCol="0" anchor="ctr"/>
          <a:lstStyle/>
          <a:p>
            <a:pPr indent="0" marL="0">
              <a:buNone/>
            </a:pPr>
            <a:r>
              <a:rPr lang="en-US" sz="1800" dirty="0">
                <a:solidFill>
                  <a:srgbClr val="E8B33A"/>
                </a:solidFill>
                <a:latin typeface="Calibri" pitchFamily="34" charset="0"/>
                <a:ea typeface="Calibri" pitchFamily="34" charset="-122"/>
                <a:cs typeface="Calibri" pitchFamily="34" charset="-120"/>
              </a:rPr>
              <a:t>A Shout is a call that someone answers.</a:t>
            </a:r>
            <a:endParaRPr lang="en-US" sz="1800" dirty="0"/>
          </a:p>
        </p:txBody>
      </p:sp>
      <p:sp>
        <p:nvSpPr>
          <p:cNvPr id="5" name="Shape 3"/>
          <p:cNvSpPr/>
          <p:nvPr/>
        </p:nvSpPr>
        <p:spPr>
          <a:xfrm>
            <a:off x="777240" y="2514600"/>
            <a:ext cx="10607040" cy="603504"/>
          </a:xfrm>
          <a:prstGeom prst="rect">
            <a:avLst/>
          </a:prstGeom>
          <a:solidFill>
            <a:srgbClr val="23282D"/>
          </a:solidFill>
          <a:ln/>
        </p:spPr>
      </p:sp>
      <p:sp>
        <p:nvSpPr>
          <p:cNvPr id="6" name="Text 4"/>
          <p:cNvSpPr/>
          <p:nvPr/>
        </p:nvSpPr>
        <p:spPr>
          <a:xfrm>
            <a:off x="1005840" y="2660904"/>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Collab Shout</a:t>
            </a:r>
            <a:endParaRPr lang="en-US" sz="1400" dirty="0"/>
          </a:p>
        </p:txBody>
      </p:sp>
      <p:sp>
        <p:nvSpPr>
          <p:cNvPr id="7" name="Text 5"/>
          <p:cNvSpPr/>
          <p:nvPr/>
        </p:nvSpPr>
        <p:spPr>
          <a:xfrm>
            <a:off x="3977640" y="2670048"/>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Producer needs a vocalist — and a songwriter, on separate terms</a:t>
            </a:r>
            <a:endParaRPr lang="en-US" sz="1250" dirty="0"/>
          </a:p>
        </p:txBody>
      </p:sp>
      <p:sp>
        <p:nvSpPr>
          <p:cNvPr id="8" name="Shape 6"/>
          <p:cNvSpPr/>
          <p:nvPr/>
        </p:nvSpPr>
        <p:spPr>
          <a:xfrm>
            <a:off x="777240" y="3264408"/>
            <a:ext cx="10607040" cy="603504"/>
          </a:xfrm>
          <a:prstGeom prst="rect">
            <a:avLst/>
          </a:prstGeom>
          <a:solidFill>
            <a:srgbClr val="23282D"/>
          </a:solidFill>
          <a:ln/>
        </p:spPr>
      </p:sp>
      <p:sp>
        <p:nvSpPr>
          <p:cNvPr id="9" name="Text 7"/>
          <p:cNvSpPr/>
          <p:nvPr/>
        </p:nvSpPr>
        <p:spPr>
          <a:xfrm>
            <a:off x="1005840" y="3410712"/>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Gig Shout</a:t>
            </a:r>
            <a:endParaRPr lang="en-US" sz="1400" dirty="0"/>
          </a:p>
        </p:txBody>
      </p:sp>
      <p:sp>
        <p:nvSpPr>
          <p:cNvPr id="10" name="Text 8"/>
          <p:cNvSpPr/>
          <p:nvPr/>
        </p:nvSpPr>
        <p:spPr>
          <a:xfrm>
            <a:off x="3977640" y="3419856"/>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Organiser needs a headliner for a date and a budget</a:t>
            </a:r>
            <a:endParaRPr lang="en-US" sz="1250" dirty="0"/>
          </a:p>
        </p:txBody>
      </p:sp>
      <p:sp>
        <p:nvSpPr>
          <p:cNvPr id="11" name="Shape 9"/>
          <p:cNvSpPr/>
          <p:nvPr/>
        </p:nvSpPr>
        <p:spPr>
          <a:xfrm>
            <a:off x="777240" y="4014216"/>
            <a:ext cx="10607040" cy="603504"/>
          </a:xfrm>
          <a:prstGeom prst="rect">
            <a:avLst/>
          </a:prstGeom>
          <a:solidFill>
            <a:srgbClr val="23282D"/>
          </a:solidFill>
          <a:ln/>
        </p:spPr>
      </p:sp>
      <p:sp>
        <p:nvSpPr>
          <p:cNvPr id="12" name="Text 10"/>
          <p:cNvSpPr/>
          <p:nvPr/>
        </p:nvSpPr>
        <p:spPr>
          <a:xfrm>
            <a:off x="1005840" y="4160520"/>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Shout</a:t>
            </a:r>
            <a:endParaRPr lang="en-US" sz="1400" dirty="0"/>
          </a:p>
        </p:txBody>
      </p:sp>
      <p:sp>
        <p:nvSpPr>
          <p:cNvPr id="13" name="Text 11"/>
          <p:cNvSpPr/>
          <p:nvPr/>
        </p:nvSpPr>
        <p:spPr>
          <a:xfrm>
            <a:off x="3977640" y="4169664"/>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A season calls for talent, all genres, any city</a:t>
            </a:r>
            <a:endParaRPr lang="en-US" sz="1250" dirty="0"/>
          </a:p>
        </p:txBody>
      </p:sp>
      <p:sp>
        <p:nvSpPr>
          <p:cNvPr id="14" name="Shape 12"/>
          <p:cNvSpPr/>
          <p:nvPr/>
        </p:nvSpPr>
        <p:spPr>
          <a:xfrm>
            <a:off x="777240" y="4764024"/>
            <a:ext cx="10607040" cy="603504"/>
          </a:xfrm>
          <a:prstGeom prst="rect">
            <a:avLst/>
          </a:prstGeom>
          <a:solidFill>
            <a:srgbClr val="23282D"/>
          </a:solidFill>
          <a:ln/>
        </p:spPr>
      </p:sp>
      <p:sp>
        <p:nvSpPr>
          <p:cNvPr id="15" name="Text 13"/>
          <p:cNvSpPr/>
          <p:nvPr/>
        </p:nvSpPr>
        <p:spPr>
          <a:xfrm>
            <a:off x="1005840" y="4910328"/>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Brand Shout</a:t>
            </a:r>
            <a:endParaRPr lang="en-US" sz="1400" dirty="0"/>
          </a:p>
        </p:txBody>
      </p:sp>
      <p:sp>
        <p:nvSpPr>
          <p:cNvPr id="16" name="Text 14"/>
          <p:cNvSpPr/>
          <p:nvPr/>
        </p:nvSpPr>
        <p:spPr>
          <a:xfrm>
            <a:off x="3977640" y="4919472"/>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A sponsor needs an artist with the right audience</a:t>
            </a:r>
            <a:endParaRPr lang="en-US" sz="1250" dirty="0"/>
          </a:p>
        </p:txBody>
      </p:sp>
      <p:sp>
        <p:nvSpPr>
          <p:cNvPr id="17" name="Shape 15"/>
          <p:cNvSpPr/>
          <p:nvPr/>
        </p:nvSpPr>
        <p:spPr>
          <a:xfrm>
            <a:off x="777240" y="5513832"/>
            <a:ext cx="10607040" cy="603504"/>
          </a:xfrm>
          <a:prstGeom prst="rect">
            <a:avLst/>
          </a:prstGeom>
          <a:solidFill>
            <a:srgbClr val="23282D"/>
          </a:solidFill>
          <a:ln/>
        </p:spPr>
      </p:sp>
      <p:sp>
        <p:nvSpPr>
          <p:cNvPr id="18" name="Text 16"/>
          <p:cNvSpPr/>
          <p:nvPr/>
        </p:nvSpPr>
        <p:spPr>
          <a:xfrm>
            <a:off x="1005840" y="5660136"/>
            <a:ext cx="283464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Sync Shout</a:t>
            </a:r>
            <a:endParaRPr lang="en-US" sz="1400" dirty="0"/>
          </a:p>
        </p:txBody>
      </p:sp>
      <p:sp>
        <p:nvSpPr>
          <p:cNvPr id="19" name="Text 17"/>
          <p:cNvSpPr/>
          <p:nvPr/>
        </p:nvSpPr>
        <p:spPr>
          <a:xfrm>
            <a:off x="3977640" y="5669280"/>
            <a:ext cx="7223760" cy="310896"/>
          </a:xfrm>
          <a:prstGeom prst="rect">
            <a:avLst/>
          </a:prstGeom>
          <a:noFill/>
          <a:ln/>
        </p:spPr>
        <p:txBody>
          <a:bodyPr wrap="square" lIns="0" tIns="0" rIns="0" bIns="0" rtlCol="0" anchor="ctr"/>
          <a:lstStyle/>
          <a:p>
            <a:pPr indent="0" marL="0">
              <a:buNone/>
            </a:pPr>
            <a:r>
              <a:rPr lang="en-US" sz="1250" dirty="0">
                <a:solidFill>
                  <a:srgbClr val="A9B0B8"/>
                </a:solidFill>
                <a:latin typeface="Calibri" pitchFamily="34" charset="0"/>
                <a:ea typeface="Calibri" pitchFamily="34" charset="-122"/>
                <a:cs typeface="Calibri" pitchFamily="34" charset="-120"/>
              </a:rPr>
              <a:t>A creator needs a cleared track for an ad</a:t>
            </a:r>
            <a:endParaRPr lang="en-US" sz="1250" dirty="0"/>
          </a:p>
        </p:txBody>
      </p:sp>
      <p:sp>
        <p:nvSpPr>
          <p:cNvPr id="20" name="Text 18"/>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21" name="Text 19"/>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PRODUCT</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Find people. Make the record.</a:t>
            </a:r>
            <a:endParaRPr lang="en-US" sz="3000" dirty="0"/>
          </a:p>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Get booked. Get paid.</a:t>
            </a:r>
            <a:endParaRPr lang="en-US" sz="3000" dirty="0"/>
          </a:p>
        </p:txBody>
      </p:sp>
      <p:sp>
        <p:nvSpPr>
          <p:cNvPr id="4" name="Shape 2"/>
          <p:cNvSpPr/>
          <p:nvPr/>
        </p:nvSpPr>
        <p:spPr>
          <a:xfrm>
            <a:off x="777240" y="2377440"/>
            <a:ext cx="3291840" cy="1481328"/>
          </a:xfrm>
          <a:prstGeom prst="rect">
            <a:avLst/>
          </a:prstGeom>
          <a:solidFill>
            <a:srgbClr val="FFFFFF"/>
          </a:solidFill>
          <a:ln w="12700">
            <a:solidFill>
              <a:srgbClr val="D6D1C4"/>
            </a:solidFill>
            <a:prstDash val="solid"/>
          </a:ln>
        </p:spPr>
      </p:sp>
      <p:sp>
        <p:nvSpPr>
          <p:cNvPr id="5" name="Text 3"/>
          <p:cNvSpPr/>
          <p:nvPr/>
        </p:nvSpPr>
        <p:spPr>
          <a:xfrm>
            <a:off x="978408" y="252374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Collab</a:t>
            </a:r>
            <a:endParaRPr lang="en-US" sz="1500" dirty="0"/>
          </a:p>
        </p:txBody>
      </p:sp>
      <p:sp>
        <p:nvSpPr>
          <p:cNvPr id="6" name="Text 4"/>
          <p:cNvSpPr/>
          <p:nvPr/>
        </p:nvSpPr>
        <p:spPr>
          <a:xfrm>
            <a:off x="978408" y="288036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Find a vocalist, writer, engineer or player. Multi-slot briefs, split sheets signed before stems move.</a:t>
            </a:r>
            <a:endParaRPr lang="en-US" sz="1150" dirty="0"/>
          </a:p>
        </p:txBody>
      </p:sp>
      <p:sp>
        <p:nvSpPr>
          <p:cNvPr id="7" name="Shape 5"/>
          <p:cNvSpPr/>
          <p:nvPr/>
        </p:nvSpPr>
        <p:spPr>
          <a:xfrm>
            <a:off x="4297680" y="2377440"/>
            <a:ext cx="3291840" cy="1481328"/>
          </a:xfrm>
          <a:prstGeom prst="rect">
            <a:avLst/>
          </a:prstGeom>
          <a:solidFill>
            <a:srgbClr val="FFFFFF"/>
          </a:solidFill>
          <a:ln w="12700">
            <a:solidFill>
              <a:srgbClr val="D6D1C4"/>
            </a:solidFill>
            <a:prstDash val="solid"/>
          </a:ln>
        </p:spPr>
      </p:sp>
      <p:sp>
        <p:nvSpPr>
          <p:cNvPr id="8" name="Text 6"/>
          <p:cNvSpPr/>
          <p:nvPr/>
        </p:nvSpPr>
        <p:spPr>
          <a:xfrm>
            <a:off x="4498848" y="252374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Studio</a:t>
            </a:r>
            <a:endParaRPr lang="en-US" sz="1500" dirty="0"/>
          </a:p>
        </p:txBody>
      </p:sp>
      <p:sp>
        <p:nvSpPr>
          <p:cNvPr id="9" name="Text 7"/>
          <p:cNvSpPr/>
          <p:nvPr/>
        </p:nvSpPr>
        <p:spPr>
          <a:xfrm>
            <a:off x="4498848" y="288036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Generate the reference so you can show the sound in your head — not describe it.</a:t>
            </a:r>
            <a:endParaRPr lang="en-US" sz="1150" dirty="0"/>
          </a:p>
        </p:txBody>
      </p:sp>
      <p:sp>
        <p:nvSpPr>
          <p:cNvPr id="10" name="Shape 8"/>
          <p:cNvSpPr/>
          <p:nvPr/>
        </p:nvSpPr>
        <p:spPr>
          <a:xfrm>
            <a:off x="7818120" y="2377440"/>
            <a:ext cx="3291840" cy="1481328"/>
          </a:xfrm>
          <a:prstGeom prst="rect">
            <a:avLst/>
          </a:prstGeom>
          <a:solidFill>
            <a:srgbClr val="FFFFFF"/>
          </a:solidFill>
          <a:ln w="12700">
            <a:solidFill>
              <a:srgbClr val="D6D1C4"/>
            </a:solidFill>
            <a:prstDash val="solid"/>
          </a:ln>
        </p:spPr>
      </p:sp>
      <p:sp>
        <p:nvSpPr>
          <p:cNvPr id="11" name="Text 9"/>
          <p:cNvSpPr/>
          <p:nvPr/>
        </p:nvSpPr>
        <p:spPr>
          <a:xfrm>
            <a:off x="8019288" y="252374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Stage</a:t>
            </a:r>
            <a:endParaRPr lang="en-US" sz="1500" dirty="0"/>
          </a:p>
        </p:txBody>
      </p:sp>
      <p:sp>
        <p:nvSpPr>
          <p:cNvPr id="12" name="Text 10"/>
          <p:cNvSpPr/>
          <p:nvPr/>
        </p:nvSpPr>
        <p:spPr>
          <a:xfrm>
            <a:off x="8019288" y="288036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All-genre season shows and city leagues. The audition funnel that acquires the market.</a:t>
            </a:r>
            <a:endParaRPr lang="en-US" sz="1150" dirty="0"/>
          </a:p>
        </p:txBody>
      </p:sp>
      <p:sp>
        <p:nvSpPr>
          <p:cNvPr id="13" name="Shape 11"/>
          <p:cNvSpPr/>
          <p:nvPr/>
        </p:nvSpPr>
        <p:spPr>
          <a:xfrm>
            <a:off x="777240" y="4069080"/>
            <a:ext cx="3291840" cy="1481328"/>
          </a:xfrm>
          <a:prstGeom prst="rect">
            <a:avLst/>
          </a:prstGeom>
          <a:solidFill>
            <a:srgbClr val="FFFFFF"/>
          </a:solidFill>
          <a:ln w="12700">
            <a:solidFill>
              <a:srgbClr val="D6D1C4"/>
            </a:solidFill>
            <a:prstDash val="solid"/>
          </a:ln>
        </p:spPr>
      </p:sp>
      <p:sp>
        <p:nvSpPr>
          <p:cNvPr id="14" name="Text 12"/>
          <p:cNvSpPr/>
          <p:nvPr/>
        </p:nvSpPr>
        <p:spPr>
          <a:xfrm>
            <a:off x="978408" y="421538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Settle</a:t>
            </a:r>
            <a:endParaRPr lang="en-US" sz="1500" dirty="0"/>
          </a:p>
        </p:txBody>
      </p:sp>
      <p:sp>
        <p:nvSpPr>
          <p:cNvPr id="15" name="Text 13"/>
          <p:cNvSpPr/>
          <p:nvPr/>
        </p:nvSpPr>
        <p:spPr>
          <a:xfrm>
            <a:off x="978408" y="457200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Contracts, escrow, splits and payouts on one rail. T+2, every payee, including sidemen.</a:t>
            </a:r>
            <a:endParaRPr lang="en-US" sz="1150" dirty="0"/>
          </a:p>
        </p:txBody>
      </p:sp>
      <p:sp>
        <p:nvSpPr>
          <p:cNvPr id="16" name="Shape 14"/>
          <p:cNvSpPr/>
          <p:nvPr/>
        </p:nvSpPr>
        <p:spPr>
          <a:xfrm>
            <a:off x="4297680" y="4069080"/>
            <a:ext cx="3291840" cy="1481328"/>
          </a:xfrm>
          <a:prstGeom prst="rect">
            <a:avLst/>
          </a:prstGeom>
          <a:solidFill>
            <a:srgbClr val="FFFFFF"/>
          </a:solidFill>
          <a:ln w="12700">
            <a:solidFill>
              <a:srgbClr val="D6D1C4"/>
            </a:solidFill>
            <a:prstDash val="solid"/>
          </a:ln>
        </p:spPr>
      </p:sp>
      <p:sp>
        <p:nvSpPr>
          <p:cNvPr id="17" name="Text 15"/>
          <p:cNvSpPr/>
          <p:nvPr/>
        </p:nvSpPr>
        <p:spPr>
          <a:xfrm>
            <a:off x="4498848" y="421538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Circle</a:t>
            </a:r>
            <a:endParaRPr lang="en-US" sz="1500" dirty="0"/>
          </a:p>
        </p:txBody>
      </p:sp>
      <p:sp>
        <p:nvSpPr>
          <p:cNvPr id="18" name="Text 16"/>
          <p:cNvSpPr/>
          <p:nvPr/>
        </p:nvSpPr>
        <p:spPr>
          <a:xfrm>
            <a:off x="4498848" y="457200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The fan list the artist owns — captured at the gig, consented to them.</a:t>
            </a:r>
            <a:endParaRPr lang="en-US" sz="1150" dirty="0"/>
          </a:p>
        </p:txBody>
      </p:sp>
      <p:sp>
        <p:nvSpPr>
          <p:cNvPr id="19" name="Shape 17"/>
          <p:cNvSpPr/>
          <p:nvPr/>
        </p:nvSpPr>
        <p:spPr>
          <a:xfrm>
            <a:off x="7818120" y="4069080"/>
            <a:ext cx="3291840" cy="1481328"/>
          </a:xfrm>
          <a:prstGeom prst="rect">
            <a:avLst/>
          </a:prstGeom>
          <a:solidFill>
            <a:srgbClr val="FFFFFF"/>
          </a:solidFill>
          <a:ln w="12700">
            <a:solidFill>
              <a:srgbClr val="D6D1C4"/>
            </a:solidFill>
            <a:prstDash val="solid"/>
          </a:ln>
        </p:spPr>
      </p:sp>
      <p:sp>
        <p:nvSpPr>
          <p:cNvPr id="20" name="Text 18"/>
          <p:cNvSpPr/>
          <p:nvPr/>
        </p:nvSpPr>
        <p:spPr>
          <a:xfrm>
            <a:off x="8019288" y="4215384"/>
            <a:ext cx="292608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Credits</a:t>
            </a:r>
            <a:endParaRPr lang="en-US" sz="1500" dirty="0"/>
          </a:p>
        </p:txBody>
      </p:sp>
      <p:sp>
        <p:nvSpPr>
          <p:cNvPr id="21" name="Text 19"/>
          <p:cNvSpPr/>
          <p:nvPr/>
        </p:nvSpPr>
        <p:spPr>
          <a:xfrm>
            <a:off x="8019288" y="4572000"/>
            <a:ext cx="2926080" cy="868680"/>
          </a:xfrm>
          <a:prstGeom prst="rect">
            <a:avLst/>
          </a:prstGeom>
          <a:noFill/>
          <a:ln/>
        </p:spPr>
        <p:txBody>
          <a:bodyPr wrap="square" lIns="0" tIns="0" rIns="0" bIns="0" rtlCol="0" anchor="ctr"/>
          <a:lstStyle/>
          <a:p>
            <a:pPr indent="0" marL="0">
              <a:lnSpc>
                <a:spcPts val="1400"/>
              </a:lnSpc>
              <a:buNone/>
            </a:pPr>
            <a:r>
              <a:rPr lang="en-US" sz="1150" dirty="0">
                <a:solidFill>
                  <a:srgbClr val="6A6F76"/>
                </a:solidFill>
                <a:latin typeface="Calibri" pitchFamily="34" charset="0"/>
                <a:ea typeface="Calibri" pitchFamily="34" charset="-122"/>
                <a:cs typeface="Calibri" pitchFamily="34" charset="-120"/>
              </a:rPr>
              <a:t>Every split ever signed, attached to a verified identity.</a:t>
            </a:r>
            <a:endParaRPr lang="en-US" sz="1150" dirty="0"/>
          </a:p>
        </p:txBody>
      </p:sp>
      <p:sp>
        <p:nvSpPr>
          <p:cNvPr id="22" name="Text 20"/>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23" name="Text 21"/>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WEDGE</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Collaboration is daily.</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Booking is occasional.</a:t>
            </a:r>
            <a:endParaRPr lang="en-US" sz="3400" dirty="0"/>
          </a:p>
        </p:txBody>
      </p:sp>
      <p:sp>
        <p:nvSpPr>
          <p:cNvPr id="4" name="Shape 2"/>
          <p:cNvSpPr/>
          <p:nvPr/>
        </p:nvSpPr>
        <p:spPr>
          <a:xfrm>
            <a:off x="777240" y="2560320"/>
            <a:ext cx="420624" cy="420624"/>
          </a:xfrm>
          <a:prstGeom prst="ellipse">
            <a:avLst/>
          </a:prstGeom>
          <a:solidFill>
            <a:srgbClr val="C1272D"/>
          </a:solidFill>
          <a:ln/>
        </p:spPr>
      </p:sp>
      <p:sp>
        <p:nvSpPr>
          <p:cNvPr id="5" name="Text 3"/>
          <p:cNvSpPr/>
          <p:nvPr/>
        </p:nvSpPr>
        <p:spPr>
          <a:xfrm>
            <a:off x="777240" y="2615184"/>
            <a:ext cx="420624"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71600" y="2542032"/>
            <a:ext cx="10012680" cy="310896"/>
          </a:xfrm>
          <a:prstGeom prst="rect">
            <a:avLst/>
          </a:prstGeom>
          <a:noFill/>
          <a:ln/>
        </p:spPr>
        <p:txBody>
          <a:bodyPr wrap="square" lIns="0" tIns="0" rIns="0" bIns="0" rtlCol="0" anchor="ctr"/>
          <a:lstStyle/>
          <a:p>
            <a:pPr indent="0" marL="0">
              <a:buNone/>
            </a:pPr>
            <a:r>
              <a:rPr lang="en-US" sz="1500" b="1" dirty="0">
                <a:solidFill>
                  <a:srgbClr val="16181B"/>
                </a:solidFill>
                <a:latin typeface="Calibri" pitchFamily="34" charset="0"/>
                <a:ea typeface="Calibri" pitchFamily="34" charset="-122"/>
                <a:cs typeface="Calibri" pitchFamily="34" charset="-120"/>
              </a:rPr>
              <a:t>No cold start</a:t>
            </a:r>
            <a:endParaRPr lang="en-US" sz="1500" dirty="0"/>
          </a:p>
        </p:txBody>
      </p:sp>
      <p:sp>
        <p:nvSpPr>
          <p:cNvPr id="7" name="Text 5"/>
          <p:cNvSpPr/>
          <p:nvPr/>
        </p:nvSpPr>
        <p:spPr>
          <a:xfrm>
            <a:off x="1371600" y="2862072"/>
            <a:ext cx="10012680" cy="658368"/>
          </a:xfrm>
          <a:prstGeom prst="rect">
            <a:avLst/>
          </a:prstGeom>
          <a:noFill/>
          <a:ln/>
        </p:spPr>
        <p:txBody>
          <a:bodyPr wrap="square" lIns="0" tIns="0" rIns="0" bIns="0" rtlCol="0" anchor="ctr"/>
          <a:lstStyle/>
          <a:p>
            <a:pPr indent="0" marL="0">
              <a:lnSpc>
                <a:spcPts val="1600"/>
              </a:lnSpc>
              <a:buNone/>
            </a:pPr>
            <a:r>
              <a:rPr lang="en-US" sz="1250" dirty="0">
                <a:solidFill>
                  <a:srgbClr val="6A6F76"/>
                </a:solidFill>
                <a:latin typeface="Calibri" pitchFamily="34" charset="0"/>
                <a:ea typeface="Calibri" pitchFamily="34" charset="-122"/>
                <a:cs typeface="Calibri" pitchFamily="34" charset="-120"/>
              </a:rPr>
              <a:t>Two producers and one vocalist is already a working network. Collab needs no organisers, no season, no sales team — only the app existing.</a:t>
            </a:r>
            <a:endParaRPr lang="en-US" sz="1250" dirty="0"/>
          </a:p>
        </p:txBody>
      </p:sp>
      <p:sp>
        <p:nvSpPr>
          <p:cNvPr id="8" name="Shape 6"/>
          <p:cNvSpPr/>
          <p:nvPr/>
        </p:nvSpPr>
        <p:spPr>
          <a:xfrm>
            <a:off x="777240" y="3703320"/>
            <a:ext cx="420624" cy="420624"/>
          </a:xfrm>
          <a:prstGeom prst="ellipse">
            <a:avLst/>
          </a:prstGeom>
          <a:solidFill>
            <a:srgbClr val="C1272D"/>
          </a:solidFill>
          <a:ln/>
        </p:spPr>
      </p:sp>
      <p:sp>
        <p:nvSpPr>
          <p:cNvPr id="9" name="Text 7"/>
          <p:cNvSpPr/>
          <p:nvPr/>
        </p:nvSpPr>
        <p:spPr>
          <a:xfrm>
            <a:off x="777240" y="3758184"/>
            <a:ext cx="420624"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371600" y="3685032"/>
            <a:ext cx="10012680" cy="310896"/>
          </a:xfrm>
          <a:prstGeom prst="rect">
            <a:avLst/>
          </a:prstGeom>
          <a:noFill/>
          <a:ln/>
        </p:spPr>
        <p:txBody>
          <a:bodyPr wrap="square" lIns="0" tIns="0" rIns="0" bIns="0" rtlCol="0" anchor="ctr"/>
          <a:lstStyle/>
          <a:p>
            <a:pPr indent="0" marL="0">
              <a:buNone/>
            </a:pPr>
            <a:r>
              <a:rPr lang="en-US" sz="1500" b="1" dirty="0">
                <a:solidFill>
                  <a:srgbClr val="16181B"/>
                </a:solidFill>
                <a:latin typeface="Calibri" pitchFamily="34" charset="0"/>
                <a:ea typeface="Calibri" pitchFamily="34" charset="-122"/>
                <a:cs typeface="Calibri" pitchFamily="34" charset="-120"/>
              </a:rPr>
              <a:t>Daily habit, not quarterly need</a:t>
            </a:r>
            <a:endParaRPr lang="en-US" sz="1500" dirty="0"/>
          </a:p>
        </p:txBody>
      </p:sp>
      <p:sp>
        <p:nvSpPr>
          <p:cNvPr id="11" name="Text 9"/>
          <p:cNvSpPr/>
          <p:nvPr/>
        </p:nvSpPr>
        <p:spPr>
          <a:xfrm>
            <a:off x="1371600" y="4005072"/>
            <a:ext cx="10012680" cy="658368"/>
          </a:xfrm>
          <a:prstGeom prst="rect">
            <a:avLst/>
          </a:prstGeom>
          <a:noFill/>
          <a:ln/>
        </p:spPr>
        <p:txBody>
          <a:bodyPr wrap="square" lIns="0" tIns="0" rIns="0" bIns="0" rtlCol="0" anchor="ctr"/>
          <a:lstStyle/>
          <a:p>
            <a:pPr indent="0" marL="0">
              <a:lnSpc>
                <a:spcPts val="1600"/>
              </a:lnSpc>
              <a:buNone/>
            </a:pPr>
            <a:r>
              <a:rPr lang="en-US" sz="1250" dirty="0">
                <a:solidFill>
                  <a:srgbClr val="6A6F76"/>
                </a:solidFill>
                <a:latin typeface="Calibri" pitchFamily="34" charset="0"/>
                <a:ea typeface="Calibri" pitchFamily="34" charset="-122"/>
                <a:cs typeface="Calibri" pitchFamily="34" charset="-120"/>
              </a:rPr>
              <a:t>A producer opens the app on a Tuesday with no gig in sight. A manager only opens a booking tool when there is a date to fill.</a:t>
            </a:r>
            <a:endParaRPr lang="en-US" sz="1250" dirty="0"/>
          </a:p>
        </p:txBody>
      </p:sp>
      <p:sp>
        <p:nvSpPr>
          <p:cNvPr id="12" name="Shape 10"/>
          <p:cNvSpPr/>
          <p:nvPr/>
        </p:nvSpPr>
        <p:spPr>
          <a:xfrm>
            <a:off x="777240" y="4846320"/>
            <a:ext cx="420624" cy="420624"/>
          </a:xfrm>
          <a:prstGeom prst="ellipse">
            <a:avLst/>
          </a:prstGeom>
          <a:solidFill>
            <a:srgbClr val="C1272D"/>
          </a:solidFill>
          <a:ln/>
        </p:spPr>
      </p:sp>
      <p:sp>
        <p:nvSpPr>
          <p:cNvPr id="13" name="Text 11"/>
          <p:cNvSpPr/>
          <p:nvPr/>
        </p:nvSpPr>
        <p:spPr>
          <a:xfrm>
            <a:off x="777240" y="4901184"/>
            <a:ext cx="420624"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371600" y="4828032"/>
            <a:ext cx="10012680" cy="310896"/>
          </a:xfrm>
          <a:prstGeom prst="rect">
            <a:avLst/>
          </a:prstGeom>
          <a:noFill/>
          <a:ln/>
        </p:spPr>
        <p:txBody>
          <a:bodyPr wrap="square" lIns="0" tIns="0" rIns="0" bIns="0" rtlCol="0" anchor="ctr"/>
          <a:lstStyle/>
          <a:p>
            <a:pPr indent="0" marL="0">
              <a:buNone/>
            </a:pPr>
            <a:r>
              <a:rPr lang="en-US" sz="1500" b="1" dirty="0">
                <a:solidFill>
                  <a:srgbClr val="16181B"/>
                </a:solidFill>
                <a:latin typeface="Calibri" pitchFamily="34" charset="0"/>
                <a:ea typeface="Calibri" pitchFamily="34" charset="-122"/>
                <a:cs typeface="Calibri" pitchFamily="34" charset="-120"/>
              </a:rPr>
              <a:t>It builds the registry for free</a:t>
            </a:r>
            <a:endParaRPr lang="en-US" sz="1500" dirty="0"/>
          </a:p>
        </p:txBody>
      </p:sp>
      <p:sp>
        <p:nvSpPr>
          <p:cNvPr id="15" name="Text 13"/>
          <p:cNvSpPr/>
          <p:nvPr/>
        </p:nvSpPr>
        <p:spPr>
          <a:xfrm>
            <a:off x="1371600" y="5148072"/>
            <a:ext cx="10012680" cy="658368"/>
          </a:xfrm>
          <a:prstGeom prst="rect">
            <a:avLst/>
          </a:prstGeom>
          <a:noFill/>
          <a:ln/>
        </p:spPr>
        <p:txBody>
          <a:bodyPr wrap="square" lIns="0" tIns="0" rIns="0" bIns="0" rtlCol="0" anchor="ctr"/>
          <a:lstStyle/>
          <a:p>
            <a:pPr indent="0" marL="0">
              <a:lnSpc>
                <a:spcPts val="1600"/>
              </a:lnSpc>
              <a:buNone/>
            </a:pPr>
            <a:r>
              <a:rPr lang="en-US" sz="1250" dirty="0">
                <a:solidFill>
                  <a:srgbClr val="6A6F76"/>
                </a:solidFill>
                <a:latin typeface="Calibri" pitchFamily="34" charset="0"/>
                <a:ea typeface="Calibri" pitchFamily="34" charset="-122"/>
                <a:cs typeface="Calibri" pitchFamily="34" charset="-120"/>
              </a:rPr>
              <a:t>Every collab signs a split sheet before stems move. Those splits populate the credits registry with zero data entry — the asset builds itself.</a:t>
            </a:r>
            <a:endParaRPr lang="en-US" sz="1250" dirty="0"/>
          </a:p>
        </p:txBody>
      </p:sp>
      <p:sp>
        <p:nvSpPr>
          <p:cNvPr id="16" name="Text 14"/>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7" name="Text 15"/>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UNFAIR FUNNEL</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We run the show that</a:t>
            </a:r>
            <a:endParaRPr lang="en-US" sz="3400" dirty="0"/>
          </a:p>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acquires the market</a:t>
            </a:r>
            <a:endParaRPr lang="en-US" sz="3400" dirty="0"/>
          </a:p>
        </p:txBody>
      </p:sp>
      <p:sp>
        <p:nvSpPr>
          <p:cNvPr id="4" name="Text 2"/>
          <p:cNvSpPr/>
          <p:nvPr/>
        </p:nvSpPr>
        <p:spPr>
          <a:xfrm>
            <a:off x="777240" y="2286000"/>
            <a:ext cx="10424160" cy="822960"/>
          </a:xfrm>
          <a:prstGeom prst="rect">
            <a:avLst/>
          </a:prstGeom>
          <a:noFill/>
          <a:ln/>
        </p:spPr>
        <p:txBody>
          <a:bodyPr wrap="square" lIns="0" tIns="0" rIns="0" bIns="0" rtlCol="0" anchor="ctr"/>
          <a:lstStyle/>
          <a:p>
            <a:pPr indent="0" marL="0">
              <a:lnSpc>
                <a:spcPts val="2200"/>
              </a:lnSpc>
              <a:buNone/>
            </a:pPr>
            <a:r>
              <a:rPr lang="en-US" sz="1500" dirty="0">
                <a:solidFill>
                  <a:srgbClr val="B9BFC6"/>
                </a:solidFill>
                <a:latin typeface="Calibri" pitchFamily="34" charset="0"/>
                <a:ea typeface="Calibri" pitchFamily="34" charset="-122"/>
                <a:cs typeface="Calibri" pitchFamily="34" charset="-120"/>
              </a:rPr>
              <a:t>A talent season pulls tens of thousands of entries and signs about fifteen.</a:t>
            </a:r>
            <a:endParaRPr lang="en-US" sz="1500" dirty="0"/>
          </a:p>
          <a:p>
            <a:pPr indent="0" marL="0">
              <a:lnSpc>
                <a:spcPts val="2200"/>
              </a:lnSpc>
              <a:buNone/>
            </a:pPr>
            <a:r>
              <a:rPr lang="en-US" sz="1500" dirty="0">
                <a:solidFill>
                  <a:srgbClr val="B9BFC6"/>
                </a:solidFill>
                <a:latin typeface="Calibri" pitchFamily="34" charset="0"/>
                <a:ea typeface="Calibri" pitchFamily="34" charset="-122"/>
                <a:cs typeface="Calibri" pitchFamily="34" charset="-120"/>
              </a:rPr>
              <a:t>The other 99.9% are the most qualified artist leads in the country — and every existing format throws them away.</a:t>
            </a:r>
            <a:endParaRPr lang="en-US" sz="1500" dirty="0"/>
          </a:p>
        </p:txBody>
      </p:sp>
      <p:sp>
        <p:nvSpPr>
          <p:cNvPr id="5" name="Shape 3"/>
          <p:cNvSpPr/>
          <p:nvPr/>
        </p:nvSpPr>
        <p:spPr>
          <a:xfrm>
            <a:off x="777240" y="3429000"/>
            <a:ext cx="3291840" cy="1417320"/>
          </a:xfrm>
          <a:prstGeom prst="rect">
            <a:avLst/>
          </a:prstGeom>
          <a:solidFill>
            <a:srgbClr val="23282D"/>
          </a:solidFill>
          <a:ln w="12700">
            <a:solidFill>
              <a:srgbClr val="D6D1C4"/>
            </a:solidFill>
            <a:prstDash val="solid"/>
          </a:ln>
        </p:spPr>
      </p:sp>
      <p:sp>
        <p:nvSpPr>
          <p:cNvPr id="6" name="Text 4"/>
          <p:cNvSpPr/>
          <p:nvPr/>
        </p:nvSpPr>
        <p:spPr>
          <a:xfrm>
            <a:off x="978408" y="3593592"/>
            <a:ext cx="2889504" cy="658368"/>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45,000</a:t>
            </a:r>
            <a:endParaRPr lang="en-US" sz="3000" dirty="0"/>
          </a:p>
        </p:txBody>
      </p:sp>
      <p:sp>
        <p:nvSpPr>
          <p:cNvPr id="7" name="Text 5"/>
          <p:cNvSpPr/>
          <p:nvPr/>
        </p:nvSpPr>
        <p:spPr>
          <a:xfrm>
            <a:off x="978408" y="429768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Season submissions</a:t>
            </a:r>
            <a:endParaRPr lang="en-US" sz="1100" dirty="0"/>
          </a:p>
        </p:txBody>
      </p:sp>
      <p:sp>
        <p:nvSpPr>
          <p:cNvPr id="8" name="Shape 6"/>
          <p:cNvSpPr/>
          <p:nvPr/>
        </p:nvSpPr>
        <p:spPr>
          <a:xfrm>
            <a:off x="4343400" y="3429000"/>
            <a:ext cx="3291840" cy="1417320"/>
          </a:xfrm>
          <a:prstGeom prst="rect">
            <a:avLst/>
          </a:prstGeom>
          <a:solidFill>
            <a:srgbClr val="23282D"/>
          </a:solidFill>
          <a:ln w="12700">
            <a:solidFill>
              <a:srgbClr val="D6D1C4"/>
            </a:solidFill>
            <a:prstDash val="solid"/>
          </a:ln>
        </p:spPr>
      </p:sp>
      <p:sp>
        <p:nvSpPr>
          <p:cNvPr id="9" name="Text 7"/>
          <p:cNvSpPr/>
          <p:nvPr/>
        </p:nvSpPr>
        <p:spPr>
          <a:xfrm>
            <a:off x="4544568" y="3593592"/>
            <a:ext cx="2889504" cy="658368"/>
          </a:xfrm>
          <a:prstGeom prst="rect">
            <a:avLst/>
          </a:prstGeom>
          <a:noFill/>
          <a:ln/>
        </p:spPr>
        <p:txBody>
          <a:bodyPr wrap="square" lIns="0" tIns="0" rIns="0" bIns="0" rtlCol="0" anchor="ctr"/>
          <a:lstStyle/>
          <a:p>
            <a:pPr indent="0" marL="0">
              <a:buNone/>
            </a:pPr>
            <a:r>
              <a:rPr lang="en-US" sz="3000" b="1" dirty="0">
                <a:solidFill>
                  <a:srgbClr val="E8B33A"/>
                </a:solidFill>
                <a:latin typeface="Bookman Old Style" pitchFamily="34" charset="0"/>
                <a:ea typeface="Bookman Old Style" pitchFamily="34" charset="-122"/>
                <a:cs typeface="Bookman Old Style" pitchFamily="34" charset="-120"/>
              </a:rPr>
              <a:t>27,000</a:t>
            </a:r>
            <a:endParaRPr lang="en-US" sz="3000" dirty="0"/>
          </a:p>
        </p:txBody>
      </p:sp>
      <p:sp>
        <p:nvSpPr>
          <p:cNvPr id="10" name="Text 8"/>
          <p:cNvSpPr/>
          <p:nvPr/>
        </p:nvSpPr>
        <p:spPr>
          <a:xfrm>
            <a:off x="4544568" y="429768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Activated artist profiles</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at 60% rejection conversion</a:t>
            </a:r>
            <a:endParaRPr lang="en-US" sz="1100" dirty="0"/>
          </a:p>
        </p:txBody>
      </p:sp>
      <p:sp>
        <p:nvSpPr>
          <p:cNvPr id="11" name="Shape 9"/>
          <p:cNvSpPr/>
          <p:nvPr/>
        </p:nvSpPr>
        <p:spPr>
          <a:xfrm>
            <a:off x="7909560" y="3429000"/>
            <a:ext cx="3291840" cy="1417320"/>
          </a:xfrm>
          <a:prstGeom prst="rect">
            <a:avLst/>
          </a:prstGeom>
          <a:solidFill>
            <a:srgbClr val="23282D"/>
          </a:solidFill>
          <a:ln w="12700">
            <a:solidFill>
              <a:srgbClr val="D6D1C4"/>
            </a:solidFill>
            <a:prstDash val="solid"/>
          </a:ln>
        </p:spPr>
      </p:sp>
      <p:sp>
        <p:nvSpPr>
          <p:cNvPr id="12" name="Text 10"/>
          <p:cNvSpPr/>
          <p:nvPr/>
        </p:nvSpPr>
        <p:spPr>
          <a:xfrm>
            <a:off x="8110728" y="3593592"/>
            <a:ext cx="2889504" cy="658368"/>
          </a:xfrm>
          <a:prstGeom prst="rect">
            <a:avLst/>
          </a:prstGeom>
          <a:noFill/>
          <a:ln/>
        </p:spPr>
        <p:txBody>
          <a:bodyPr wrap="square" lIns="0" tIns="0" rIns="0" bIns="0" rtlCol="0" anchor="ctr"/>
          <a:lstStyle/>
          <a:p>
            <a:pPr indent="0" marL="0">
              <a:buNone/>
            </a:pPr>
            <a:r>
              <a:rPr lang="en-US" sz="3000" b="1" dirty="0">
                <a:solidFill>
                  <a:srgbClr val="C1272D"/>
                </a:solidFill>
                <a:latin typeface="Bookman Old Style" pitchFamily="34" charset="0"/>
                <a:ea typeface="Bookman Old Style" pitchFamily="34" charset="-122"/>
                <a:cs typeface="Bookman Old Style" pitchFamily="34" charset="-120"/>
              </a:rPr>
              <a:t>₹40</a:t>
            </a:r>
            <a:endParaRPr lang="en-US" sz="3000" dirty="0"/>
          </a:p>
        </p:txBody>
      </p:sp>
      <p:sp>
        <p:nvSpPr>
          <p:cNvPr id="13" name="Text 11"/>
          <p:cNvSpPr/>
          <p:nvPr/>
        </p:nvSpPr>
        <p:spPr>
          <a:xfrm>
            <a:off x="8110728" y="4297680"/>
            <a:ext cx="288950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CAC per activated artist</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$0.47</a:t>
            </a:r>
            <a:endParaRPr lang="en-US" sz="1100" dirty="0"/>
          </a:p>
        </p:txBody>
      </p:sp>
      <p:sp>
        <p:nvSpPr>
          <p:cNvPr id="14" name="Text 12"/>
          <p:cNvSpPr/>
          <p:nvPr/>
        </p:nvSpPr>
        <p:spPr>
          <a:xfrm>
            <a:off x="777240" y="5120640"/>
            <a:ext cx="10424160" cy="36576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No competitor can match this, because none of them run the show.</a:t>
            </a:r>
            <a:endParaRPr lang="en-US" sz="1500" dirty="0"/>
          </a:p>
        </p:txBody>
      </p:sp>
      <p:sp>
        <p:nvSpPr>
          <p:cNvPr id="15" name="Text 13"/>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6" name="Text 14"/>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MARKET</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₹35,370cr of Indian artist fees.</a:t>
            </a:r>
            <a:endParaRPr lang="en-US" sz="3000" dirty="0"/>
          </a:p>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$52.9B globally.</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2377440"/>
          <a:ext cx="7589520" cy="914400"/>
        </p:xfrm>
        <a:graphic>
          <a:graphicData uri="http://schemas.openxmlformats.org/drawingml/2006/table">
            <a:tbl>
              <a:tblPr/>
              <a:tblGrid>
                <a:gridCol w="2377440"/>
                <a:gridCol w="3200400"/>
                <a:gridCol w="2011680"/>
              </a:tblGrid>
              <a:tr h="30175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Pool</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India TAM</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Weddings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10.5M weddings × 8% live music × ₹1.8L</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₹15,120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Temple, folk &amp; devotional</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Regional and seasonal circuits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₹6,000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Organised live events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₹13,000cr × 35% artist-fee share</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₹4,550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Corporate &amp; MICE</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Artist fees within corporate events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₹4,000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Government &amp; tourism</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State festivals and programming</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₹2,500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Clubs &amp; nightlife</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Guarantees and door splits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₹2,000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College festivals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indent="0" marL="0">
                        <a:buNone/>
                      </a:pPr>
                      <a:r>
                        <a:rPr lang="en-US" sz="1150" dirty="0">
                          <a:solidFill>
                            <a:srgbClr val="6A6F76"/>
                          </a:solidFill>
                          <a:latin typeface="Calibri" pitchFamily="34" charset="0"/>
                          <a:ea typeface="Calibri" pitchFamily="34" charset="-122"/>
                          <a:cs typeface="Calibri" pitchFamily="34" charset="-120"/>
                        </a:rPr>
                        <a:t>Sponsor-funded campus bookings</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000000"/>
                          </a:solidFill>
                          <a:latin typeface="Calibri" pitchFamily="34" charset="0"/>
                          <a:ea typeface="Calibri" pitchFamily="34" charset="-122"/>
                          <a:cs typeface="Calibri" pitchFamily="34" charset="-120"/>
                        </a:rPr>
                        <a:t>₹1,200 cr</a:t>
                      </a:r>
                      <a:endParaRPr lang="en-US" sz="1150" dirty="0">
                        <a:latin typeface="Calibri" charset="0"/>
                        <a:ea typeface="Calibri" charset="0"/>
                        <a:cs typeface="Calibri" charset="0"/>
                      </a:endParaRPr>
                    </a:p>
                  </a:txBody>
                  <a:tcPr marL="91440" marR="91440" marT="45720" marB="45720" anchor="ctr">
                    <a:lnL w="12700" cap="flat" cmpd="sng" algn="ctr">
                      <a:solidFill>
                        <a:srgbClr val="D6D1C4"/>
                      </a:solidFill>
                      <a:prstDash val="solid"/>
                      <a:round/>
                      <a:headEnd type="none" w="med" len="med"/>
                      <a:tailEnd type="none" w="med" len="med"/>
                    </a:lnL>
                    <a:lnR w="12700" cap="flat" cmpd="sng" algn="ctr">
                      <a:solidFill>
                        <a:srgbClr val="D6D1C4"/>
                      </a:solidFill>
                      <a:prstDash val="solid"/>
                      <a:round/>
                      <a:headEnd type="none" w="med" len="med"/>
                      <a:tailEnd type="none" w="med" len="med"/>
                    </a:lnR>
                    <a:lnT w="12700" cap="flat" cmpd="sng" algn="ctr">
                      <a:solidFill>
                        <a:srgbClr val="D6D1C4"/>
                      </a:solidFill>
                      <a:prstDash val="solid"/>
                      <a:round/>
                      <a:headEnd type="none" w="med" len="med"/>
                      <a:tailEnd type="none" w="med" len="med"/>
                    </a:lnT>
                    <a:lnB w="12700" cap="flat" cmpd="sng" algn="ctr">
                      <a:solidFill>
                        <a:srgbClr val="D6D1C4"/>
                      </a:solidFill>
                      <a:prstDash val="solid"/>
                      <a:round/>
                      <a:headEnd type="none" w="med" len="med"/>
                      <a:tailEnd type="none" w="med" len="med"/>
                    </a:lnB>
                    <a:solidFill>
                      <a:srgbClr val="FFFFFF"/>
                    </a:solidFill>
                  </a:tcPr>
                </a:tc>
              </a:tr>
            </a:tbl>
          </a:graphicData>
        </a:graphic>
      </p:graphicFrame>
      <p:sp>
        <p:nvSpPr>
          <p:cNvPr id="5" name="Shape 2"/>
          <p:cNvSpPr/>
          <p:nvPr/>
        </p:nvSpPr>
        <p:spPr>
          <a:xfrm>
            <a:off x="777240" y="2377440"/>
            <a:ext cx="7589520" cy="301752"/>
          </a:xfrm>
          <a:prstGeom prst="rect">
            <a:avLst/>
          </a:prstGeom>
          <a:solidFill>
            <a:srgbClr val="16181B"/>
          </a:solidFill>
          <a:ln/>
        </p:spPr>
      </p:sp>
      <p:sp>
        <p:nvSpPr>
          <p:cNvPr id="6" name="Text 3"/>
          <p:cNvSpPr/>
          <p:nvPr/>
        </p:nvSpPr>
        <p:spPr>
          <a:xfrm>
            <a:off x="868680" y="2395728"/>
            <a:ext cx="2194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Pool</a:t>
            </a:r>
            <a:endParaRPr lang="en-US" sz="1100" dirty="0"/>
          </a:p>
        </p:txBody>
      </p:sp>
      <p:sp>
        <p:nvSpPr>
          <p:cNvPr id="7" name="Text 4"/>
          <p:cNvSpPr/>
          <p:nvPr/>
        </p:nvSpPr>
        <p:spPr>
          <a:xfrm>
            <a:off x="3246120" y="239572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Basis</a:t>
            </a:r>
            <a:endParaRPr lang="en-US" sz="1100" dirty="0"/>
          </a:p>
        </p:txBody>
      </p:sp>
      <p:sp>
        <p:nvSpPr>
          <p:cNvPr id="8" name="Text 5"/>
          <p:cNvSpPr/>
          <p:nvPr/>
        </p:nvSpPr>
        <p:spPr>
          <a:xfrm>
            <a:off x="6355080" y="2395728"/>
            <a:ext cx="1920240"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India TAM</a:t>
            </a:r>
            <a:endParaRPr lang="en-US" sz="1100" dirty="0"/>
          </a:p>
        </p:txBody>
      </p:sp>
      <p:sp>
        <p:nvSpPr>
          <p:cNvPr id="9" name="Shape 6"/>
          <p:cNvSpPr/>
          <p:nvPr/>
        </p:nvSpPr>
        <p:spPr>
          <a:xfrm>
            <a:off x="8732520" y="2697480"/>
            <a:ext cx="2651760" cy="1417320"/>
          </a:xfrm>
          <a:prstGeom prst="rect">
            <a:avLst/>
          </a:prstGeom>
          <a:solidFill>
            <a:srgbClr val="FFFFFF"/>
          </a:solidFill>
          <a:ln w="12700">
            <a:solidFill>
              <a:srgbClr val="D6D1C4"/>
            </a:solidFill>
            <a:prstDash val="solid"/>
          </a:ln>
        </p:spPr>
      </p:sp>
      <p:sp>
        <p:nvSpPr>
          <p:cNvPr id="10" name="Text 7"/>
          <p:cNvSpPr/>
          <p:nvPr/>
        </p:nvSpPr>
        <p:spPr>
          <a:xfrm>
            <a:off x="8933688" y="2862072"/>
            <a:ext cx="2249424" cy="658368"/>
          </a:xfrm>
          <a:prstGeom prst="rect">
            <a:avLst/>
          </a:prstGeom>
          <a:noFill/>
          <a:ln/>
        </p:spPr>
        <p:txBody>
          <a:bodyPr wrap="square" lIns="0" tIns="0" rIns="0" bIns="0" rtlCol="0" anchor="ctr"/>
          <a:lstStyle/>
          <a:p>
            <a:pPr indent="0" marL="0">
              <a:buNone/>
            </a:pPr>
            <a:r>
              <a:rPr lang="en-US" sz="3000" b="1" dirty="0">
                <a:solidFill>
                  <a:srgbClr val="16181B"/>
                </a:solidFill>
                <a:latin typeface="Bookman Old Style" pitchFamily="34" charset="0"/>
                <a:ea typeface="Bookman Old Style" pitchFamily="34" charset="-122"/>
                <a:cs typeface="Bookman Old Style" pitchFamily="34" charset="-120"/>
              </a:rPr>
              <a:t>₹35,370cr</a:t>
            </a:r>
            <a:endParaRPr lang="en-US" sz="3000" dirty="0"/>
          </a:p>
        </p:txBody>
      </p:sp>
      <p:sp>
        <p:nvSpPr>
          <p:cNvPr id="11" name="Text 8"/>
          <p:cNvSpPr/>
          <p:nvPr/>
        </p:nvSpPr>
        <p:spPr>
          <a:xfrm>
            <a:off x="8933688" y="3566160"/>
            <a:ext cx="224942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TAM · $4.16B</a:t>
            </a:r>
            <a:endParaRPr lang="en-US" sz="1100" dirty="0"/>
          </a:p>
        </p:txBody>
      </p:sp>
      <p:sp>
        <p:nvSpPr>
          <p:cNvPr id="12" name="Shape 9"/>
          <p:cNvSpPr/>
          <p:nvPr/>
        </p:nvSpPr>
        <p:spPr>
          <a:xfrm>
            <a:off x="8732520" y="4251960"/>
            <a:ext cx="2651760" cy="1417320"/>
          </a:xfrm>
          <a:prstGeom prst="rect">
            <a:avLst/>
          </a:prstGeom>
          <a:solidFill>
            <a:srgbClr val="FFFFFF"/>
          </a:solidFill>
          <a:ln w="12700">
            <a:solidFill>
              <a:srgbClr val="D6D1C4"/>
            </a:solidFill>
            <a:prstDash val="solid"/>
          </a:ln>
        </p:spPr>
      </p:sp>
      <p:sp>
        <p:nvSpPr>
          <p:cNvPr id="13" name="Text 10"/>
          <p:cNvSpPr/>
          <p:nvPr/>
        </p:nvSpPr>
        <p:spPr>
          <a:xfrm>
            <a:off x="8933688" y="4416552"/>
            <a:ext cx="2249424" cy="658368"/>
          </a:xfrm>
          <a:prstGeom prst="rect">
            <a:avLst/>
          </a:prstGeom>
          <a:noFill/>
          <a:ln/>
        </p:spPr>
        <p:txBody>
          <a:bodyPr wrap="square" lIns="0" tIns="0" rIns="0" bIns="0" rtlCol="0" anchor="ctr"/>
          <a:lstStyle/>
          <a:p>
            <a:pPr indent="0" marL="0">
              <a:buNone/>
            </a:pPr>
            <a:r>
              <a:rPr lang="en-US" sz="3000" b="1" dirty="0">
                <a:solidFill>
                  <a:srgbClr val="14456F"/>
                </a:solidFill>
                <a:latin typeface="Bookman Old Style" pitchFamily="34" charset="0"/>
                <a:ea typeface="Bookman Old Style" pitchFamily="34" charset="-122"/>
                <a:cs typeface="Bookman Old Style" pitchFamily="34" charset="-120"/>
              </a:rPr>
              <a:t>₹7,781cr</a:t>
            </a:r>
            <a:endParaRPr lang="en-US" sz="3000" dirty="0"/>
          </a:p>
        </p:txBody>
      </p:sp>
      <p:sp>
        <p:nvSpPr>
          <p:cNvPr id="14" name="Text 11"/>
          <p:cNvSpPr/>
          <p:nvPr/>
        </p:nvSpPr>
        <p:spPr>
          <a:xfrm>
            <a:off x="8933688" y="5120640"/>
            <a:ext cx="2249424" cy="457200"/>
          </a:xfrm>
          <a:prstGeom prst="rect">
            <a:avLst/>
          </a:prstGeom>
          <a:noFill/>
          <a:ln/>
        </p:spPr>
        <p:txBody>
          <a:bodyPr wrap="square" lIns="0" tIns="0" rIns="0" bIns="0" rtlCol="0" anchor="ctr"/>
          <a:lstStyle/>
          <a:p>
            <a:pPr indent="0" marL="0">
              <a:buNone/>
            </a:pPr>
            <a:r>
              <a:rPr lang="en-US" sz="1100" dirty="0">
                <a:solidFill>
                  <a:srgbClr val="6A6F76"/>
                </a:solidFill>
                <a:latin typeface="Calibri" pitchFamily="34" charset="0"/>
                <a:ea typeface="Calibri" pitchFamily="34" charset="-122"/>
                <a:cs typeface="Calibri" pitchFamily="34" charset="-120"/>
              </a:rPr>
              <a:t>SAM · 22% digitally</a:t>
            </a:r>
            <a:endParaRPr lang="en-US" sz="1100" dirty="0"/>
          </a:p>
          <a:p>
            <a:pPr indent="0" marL="0">
              <a:buNone/>
            </a:pPr>
            <a:r>
              <a:rPr lang="en-US" sz="1100" dirty="0">
                <a:solidFill>
                  <a:srgbClr val="6A6F76"/>
                </a:solidFill>
                <a:latin typeface="Calibri" pitchFamily="34" charset="0"/>
                <a:ea typeface="Calibri" pitchFamily="34" charset="-122"/>
                <a:cs typeface="Calibri" pitchFamily="34" charset="-120"/>
              </a:rPr>
              <a:t>addressable · $915M</a:t>
            </a:r>
            <a:endParaRPr lang="en-US" sz="1100" dirty="0"/>
          </a:p>
        </p:txBody>
      </p:sp>
      <p:sp>
        <p:nvSpPr>
          <p:cNvPr id="15" name="Text 12"/>
          <p:cNvSpPr/>
          <p:nvPr/>
        </p:nvSpPr>
        <p:spPr>
          <a:xfrm>
            <a:off x="777240" y="5074920"/>
            <a:ext cx="10607040" cy="548640"/>
          </a:xfrm>
          <a:prstGeom prst="rect">
            <a:avLst/>
          </a:prstGeom>
          <a:noFill/>
          <a:ln/>
        </p:spPr>
        <p:txBody>
          <a:bodyPr wrap="square" lIns="0" tIns="0" rIns="0" bIns="0" rtlCol="0" anchor="ctr"/>
          <a:lstStyle/>
          <a:p>
            <a:pPr indent="0" marL="0">
              <a:buNone/>
            </a:pPr>
            <a:r>
              <a:rPr lang="en-US" sz="1000" dirty="0">
                <a:solidFill>
                  <a:srgbClr val="6A6F76"/>
                </a:solidFill>
                <a:latin typeface="Calibri" pitchFamily="34" charset="0"/>
                <a:ea typeface="Calibri" pitchFamily="34" charset="-122"/>
                <a:cs typeface="Calibri" pitchFamily="34" charset="-120"/>
              </a:rPr>
              <a:t>est. — arithmetic shown in full in the build package. Wedding attach rate is 43% of TAM and the most sensitive input; validate first.</a:t>
            </a:r>
            <a:endParaRPr lang="en-US" sz="1000" dirty="0"/>
          </a:p>
        </p:txBody>
      </p:sp>
      <p:sp>
        <p:nvSpPr>
          <p:cNvPr id="16" name="Text 13"/>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7" name="Text 14"/>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BUSINESS MODEL</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Seven lines. One rail.</a:t>
            </a:r>
            <a:endParaRPr lang="en-US" sz="3000" dirty="0"/>
          </a:p>
          <a:p>
            <a:pPr indent="0" marL="0">
              <a:lnSpc>
                <a:spcPts val="3800"/>
              </a:lnSpc>
              <a:buNone/>
            </a:pPr>
            <a:r>
              <a:rPr lang="en-US" sz="3000" b="1" dirty="0">
                <a:solidFill>
                  <a:srgbClr val="16181B"/>
                </a:solidFill>
                <a:latin typeface="Bookman Old Style" pitchFamily="34" charset="0"/>
                <a:ea typeface="Bookman Old Style" pitchFamily="34" charset="-122"/>
                <a:cs typeface="Bookman Old Style" pitchFamily="34" charset="-120"/>
              </a:rPr>
              <a:t>71% contribution per booking.</a:t>
            </a:r>
            <a:endParaRPr lang="en-US" sz="3000" dirty="0"/>
          </a:p>
        </p:txBody>
      </p:sp>
      <p:graphicFrame>
        <p:nvGraphicFramePr>
          <p:cNvPr id="4" name="Chart 0" descr=""/>
          <p:cNvGraphicFramePr/>
          <p:nvPr/>
        </p:nvGraphicFramePr>
        <p:xfrm>
          <a:off x="777240" y="233172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09560" y="2331720"/>
            <a:ext cx="3474720" cy="3566160"/>
          </a:xfrm>
          <a:prstGeom prst="rect">
            <a:avLst/>
          </a:prstGeom>
          <a:solidFill>
            <a:srgbClr val="FFFFFF"/>
          </a:solidFill>
          <a:ln w="12700">
            <a:solidFill>
              <a:srgbClr val="D6D1C4"/>
            </a:solidFill>
            <a:prstDash val="solid"/>
          </a:ln>
        </p:spPr>
      </p:sp>
      <p:sp>
        <p:nvSpPr>
          <p:cNvPr id="6" name="Text 3"/>
          <p:cNvSpPr/>
          <p:nvPr/>
        </p:nvSpPr>
        <p:spPr>
          <a:xfrm>
            <a:off x="8138160" y="2542032"/>
            <a:ext cx="3017520" cy="274320"/>
          </a:xfrm>
          <a:prstGeom prst="rect">
            <a:avLst/>
          </a:prstGeom>
          <a:noFill/>
          <a:ln/>
        </p:spPr>
        <p:txBody>
          <a:bodyPr wrap="square" lIns="0" tIns="0" rIns="0" bIns="0" rtlCol="0" anchor="ctr"/>
          <a:lstStyle/>
          <a:p>
            <a:pPr indent="0" marL="0">
              <a:buNone/>
            </a:pPr>
            <a:r>
              <a:rPr lang="en-US" sz="1300" b="1" dirty="0">
                <a:solidFill>
                  <a:srgbClr val="C1272D"/>
                </a:solidFill>
                <a:latin typeface="Calibri" pitchFamily="34" charset="0"/>
                <a:ea typeface="Calibri" pitchFamily="34" charset="-122"/>
                <a:cs typeface="Calibri" pitchFamily="34" charset="-120"/>
              </a:rPr>
              <a:t>Per booking</a:t>
            </a:r>
            <a:endParaRPr lang="en-US" sz="1300" dirty="0"/>
          </a:p>
        </p:txBody>
      </p:sp>
      <p:sp>
        <p:nvSpPr>
          <p:cNvPr id="7" name="Text 4"/>
          <p:cNvSpPr/>
          <p:nvPr/>
        </p:nvSpPr>
        <p:spPr>
          <a:xfrm>
            <a:off x="8138160" y="2926080"/>
            <a:ext cx="3017520" cy="2194560"/>
          </a:xfrm>
          <a:prstGeom prst="rect">
            <a:avLst/>
          </a:prstGeom>
          <a:noFill/>
          <a:ln/>
        </p:spPr>
        <p:txBody>
          <a:bodyPr wrap="square" lIns="0" tIns="0" rIns="0" bIns="0" rtlCol="0" anchor="ctr"/>
          <a:lstStyle/>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₹1,50,000   average gig value</a:t>
            </a:r>
            <a:endParaRPr lang="en-US" sz="1250" dirty="0"/>
          </a:p>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₹15,000   revenue at 10% take</a:t>
            </a:r>
            <a:endParaRPr lang="en-US" sz="1250" dirty="0"/>
          </a:p>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−₹2,700   settlement fee</a:t>
            </a:r>
            <a:endParaRPr lang="en-US" sz="1250" dirty="0"/>
          </a:p>
          <a:p>
            <a:pPr indent="0" marL="0">
              <a:lnSpc>
                <a:spcPts val="2200"/>
              </a:lnSpc>
              <a:buNone/>
            </a:pPr>
            <a:r>
              <a:rPr lang="en-US" sz="1250" dirty="0">
                <a:solidFill>
                  <a:srgbClr val="16181B"/>
                </a:solidFill>
                <a:latin typeface="Calibri" pitchFamily="34" charset="0"/>
                <a:ea typeface="Calibri" pitchFamily="34" charset="-122"/>
                <a:cs typeface="Calibri" pitchFamily="34" charset="-120"/>
              </a:rPr>
              <a:t>−₹1,620   ops, infra, messaging</a:t>
            </a:r>
            <a:endParaRPr lang="en-US" sz="1250" dirty="0"/>
          </a:p>
          <a:p>
            <a:pPr indent="0" marL="0">
              <a:lnSpc>
                <a:spcPts val="2200"/>
              </a:lnSpc>
              <a:buNone/>
            </a:pPr>
            <a:r>
              <a:rPr lang="en-US" sz="1250" b="1" dirty="0">
                <a:solidFill>
                  <a:srgbClr val="16181B"/>
                </a:solidFill>
                <a:latin typeface="Calibri" pitchFamily="34" charset="0"/>
                <a:ea typeface="Calibri" pitchFamily="34" charset="-122"/>
                <a:cs typeface="Calibri" pitchFamily="34" charset="-120"/>
              </a:rPr>
              <a:t>₹10,680   contribution</a:t>
            </a:r>
            <a:endParaRPr lang="en-US" sz="1250" dirty="0"/>
          </a:p>
          <a:p>
            <a:pPr indent="0" marL="0">
              <a:lnSpc>
                <a:spcPts val="2200"/>
              </a:lnSpc>
              <a:buNone/>
            </a:pPr>
            <a:r>
              <a:rPr lang="en-US" sz="1250" b="1" dirty="0">
                <a:solidFill>
                  <a:srgbClr val="C1272D"/>
                </a:solidFill>
                <a:latin typeface="Calibri" pitchFamily="34" charset="0"/>
                <a:ea typeface="Calibri" pitchFamily="34" charset="-122"/>
                <a:cs typeface="Calibri" pitchFamily="34" charset="-120"/>
              </a:rPr>
              <a:t>71.2%   margin</a:t>
            </a:r>
            <a:endParaRPr lang="en-US" sz="1250" dirty="0"/>
          </a:p>
        </p:txBody>
      </p:sp>
      <p:sp>
        <p:nvSpPr>
          <p:cNvPr id="8" name="Text 5"/>
          <p:cNvSpPr/>
          <p:nvPr/>
        </p:nvSpPr>
        <p:spPr>
          <a:xfrm>
            <a:off x="8138160" y="5349240"/>
            <a:ext cx="3017520" cy="320040"/>
          </a:xfrm>
          <a:prstGeom prst="rect">
            <a:avLst/>
          </a:prstGeom>
          <a:noFill/>
          <a:ln/>
        </p:spPr>
        <p:txBody>
          <a:bodyPr wrap="square" lIns="0" tIns="0" rIns="0" bIns="0" rtlCol="0" anchor="ctr"/>
          <a:lstStyle/>
          <a:p>
            <a:pPr indent="0" marL="0">
              <a:buNone/>
            </a:pPr>
            <a:r>
              <a:rPr lang="en-US" sz="1400" b="1" dirty="0">
                <a:solidFill>
                  <a:srgbClr val="16181B"/>
                </a:solidFill>
                <a:latin typeface="Bookman Old Style" pitchFamily="34" charset="0"/>
                <a:ea typeface="Bookman Old Style" pitchFamily="34" charset="-122"/>
                <a:cs typeface="Bookman Old Style" pitchFamily="34" charset="-120"/>
              </a:rPr>
              <a:t>₹99.1cr / $11.7M total Year 5</a:t>
            </a:r>
            <a:endParaRPr lang="en-US" sz="1400" dirty="0"/>
          </a:p>
        </p:txBody>
      </p:sp>
      <p:sp>
        <p:nvSpPr>
          <p:cNvPr id="9" name="Text 6"/>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0" name="Text 7"/>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MOAT</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Two assets that cannot</a:t>
            </a:r>
            <a:endParaRPr lang="en-US" sz="3400" dirty="0"/>
          </a:p>
          <a:p>
            <a:pPr indent="0" marL="0">
              <a:lnSpc>
                <a:spcPts val="3800"/>
              </a:lnSpc>
              <a:buNone/>
            </a:pPr>
            <a:r>
              <a:rPr lang="en-US" sz="3400" b="1" dirty="0">
                <a:solidFill>
                  <a:srgbClr val="FFFFFF"/>
                </a:solidFill>
                <a:latin typeface="Bookman Old Style" pitchFamily="34" charset="0"/>
                <a:ea typeface="Bookman Old Style" pitchFamily="34" charset="-122"/>
                <a:cs typeface="Bookman Old Style" pitchFamily="34" charset="-120"/>
              </a:rPr>
              <a:t>be bought — only accumulated</a:t>
            </a:r>
            <a:endParaRPr lang="en-US" sz="3400" dirty="0"/>
          </a:p>
        </p:txBody>
      </p:sp>
      <p:sp>
        <p:nvSpPr>
          <p:cNvPr id="4" name="Shape 2"/>
          <p:cNvSpPr/>
          <p:nvPr/>
        </p:nvSpPr>
        <p:spPr>
          <a:xfrm>
            <a:off x="777240" y="2377440"/>
            <a:ext cx="5120640" cy="3017520"/>
          </a:xfrm>
          <a:prstGeom prst="rect">
            <a:avLst/>
          </a:prstGeom>
          <a:solidFill>
            <a:srgbClr val="23282D"/>
          </a:solidFill>
          <a:ln/>
        </p:spPr>
      </p:sp>
      <p:sp>
        <p:nvSpPr>
          <p:cNvPr id="5" name="Text 3"/>
          <p:cNvSpPr/>
          <p:nvPr/>
        </p:nvSpPr>
        <p:spPr>
          <a:xfrm>
            <a:off x="1051560" y="2606040"/>
            <a:ext cx="4572000" cy="320040"/>
          </a:xfrm>
          <a:prstGeom prst="rect">
            <a:avLst/>
          </a:prstGeom>
          <a:noFill/>
          <a:ln/>
        </p:spPr>
        <p:txBody>
          <a:bodyPr wrap="square" lIns="0" tIns="0" rIns="0" bIns="0" rtlCol="0" anchor="ctr"/>
          <a:lstStyle/>
          <a:p>
            <a:pPr indent="0" marL="0">
              <a:buNone/>
            </a:pPr>
            <a:r>
              <a:rPr lang="en-US" sz="1700" b="1" dirty="0">
                <a:solidFill>
                  <a:srgbClr val="E8B33A"/>
                </a:solidFill>
                <a:latin typeface="Calibri" pitchFamily="34" charset="0"/>
                <a:ea typeface="Calibri" pitchFamily="34" charset="-122"/>
                <a:cs typeface="Calibri" pitchFamily="34" charset="-120"/>
              </a:rPr>
              <a:t>The price index</a:t>
            </a:r>
            <a:endParaRPr lang="en-US" sz="1700" dirty="0"/>
          </a:p>
        </p:txBody>
      </p:sp>
      <p:sp>
        <p:nvSpPr>
          <p:cNvPr id="6" name="Text 4"/>
          <p:cNvSpPr/>
          <p:nvPr/>
        </p:nvSpPr>
        <p:spPr>
          <a:xfrm>
            <a:off x="1051560" y="3063240"/>
            <a:ext cx="4572000" cy="2103120"/>
          </a:xfrm>
          <a:prstGeom prst="rect">
            <a:avLst/>
          </a:prstGeom>
          <a:noFill/>
          <a:ln/>
        </p:spPr>
        <p:txBody>
          <a:bodyPr wrap="square" lIns="0" tIns="0" rIns="0" bIns="0" rtlCol="0" anchor="ctr"/>
          <a:lstStyle/>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Every settled booking writes a row. Fee percentiles by genre, city, slot, crowd size and season.</a:t>
            </a:r>
            <a:endParaRPr lang="en-US" sz="1300" dirty="0"/>
          </a:p>
          <a:p>
            <a:pPr indent="0" marL="0">
              <a:lnSpc>
                <a:spcPts val="1900"/>
              </a:lnSpc>
              <a:buNone/>
            </a:pPr>
            <a:endParaRPr lang="en-US" sz="1300" dirty="0"/>
          </a:p>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Nobody in this market has one. It prices quotes, prices sponsorships, and underwrites advances — and it sharpens with every transaction.</a:t>
            </a:r>
            <a:endParaRPr lang="en-US" sz="1300" dirty="0"/>
          </a:p>
        </p:txBody>
      </p:sp>
      <p:sp>
        <p:nvSpPr>
          <p:cNvPr id="7" name="Shape 5"/>
          <p:cNvSpPr/>
          <p:nvPr/>
        </p:nvSpPr>
        <p:spPr>
          <a:xfrm>
            <a:off x="6263640" y="2377440"/>
            <a:ext cx="5120640" cy="3017520"/>
          </a:xfrm>
          <a:prstGeom prst="rect">
            <a:avLst/>
          </a:prstGeom>
          <a:solidFill>
            <a:srgbClr val="23282D"/>
          </a:solidFill>
          <a:ln/>
        </p:spPr>
      </p:sp>
      <p:sp>
        <p:nvSpPr>
          <p:cNvPr id="8" name="Text 6"/>
          <p:cNvSpPr/>
          <p:nvPr/>
        </p:nvSpPr>
        <p:spPr>
          <a:xfrm>
            <a:off x="6537960" y="2606040"/>
            <a:ext cx="4572000" cy="320040"/>
          </a:xfrm>
          <a:prstGeom prst="rect">
            <a:avLst/>
          </a:prstGeom>
          <a:noFill/>
          <a:ln/>
        </p:spPr>
        <p:txBody>
          <a:bodyPr wrap="square" lIns="0" tIns="0" rIns="0" bIns="0" rtlCol="0" anchor="ctr"/>
          <a:lstStyle/>
          <a:p>
            <a:pPr indent="0" marL="0">
              <a:buNone/>
            </a:pPr>
            <a:r>
              <a:rPr lang="en-US" sz="1700" b="1" dirty="0">
                <a:solidFill>
                  <a:srgbClr val="E8B33A"/>
                </a:solidFill>
                <a:latin typeface="Calibri" pitchFamily="34" charset="0"/>
                <a:ea typeface="Calibri" pitchFamily="34" charset="-122"/>
                <a:cs typeface="Calibri" pitchFamily="34" charset="-120"/>
              </a:rPr>
              <a:t>The credits graph</a:t>
            </a:r>
            <a:endParaRPr lang="en-US" sz="1700" dirty="0"/>
          </a:p>
        </p:txBody>
      </p:sp>
      <p:sp>
        <p:nvSpPr>
          <p:cNvPr id="9" name="Text 7"/>
          <p:cNvSpPr/>
          <p:nvPr/>
        </p:nvSpPr>
        <p:spPr>
          <a:xfrm>
            <a:off x="6537960" y="3063240"/>
            <a:ext cx="4572000" cy="2103120"/>
          </a:xfrm>
          <a:prstGeom prst="rect">
            <a:avLst/>
          </a:prstGeom>
          <a:noFill/>
          <a:ln/>
        </p:spPr>
        <p:txBody>
          <a:bodyPr wrap="square" lIns="0" tIns="0" rIns="0" bIns="0" rtlCol="0" anchor="ctr"/>
          <a:lstStyle/>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Every collab signs a split sheet before stems move. Those splits become a verified record of who made what, with whom.</a:t>
            </a:r>
            <a:endParaRPr lang="en-US" sz="1300" dirty="0"/>
          </a:p>
          <a:p>
            <a:pPr indent="0" marL="0">
              <a:lnSpc>
                <a:spcPts val="1900"/>
              </a:lnSpc>
              <a:buNone/>
            </a:pPr>
            <a:endParaRPr lang="en-US" sz="1300" dirty="0"/>
          </a:p>
          <a:p>
            <a:pPr indent="0" marL="0">
              <a:lnSpc>
                <a:spcPts val="1900"/>
              </a:lnSpc>
              <a:buNone/>
            </a:pPr>
            <a:r>
              <a:rPr lang="en-US" sz="1300" dirty="0">
                <a:solidFill>
                  <a:srgbClr val="B9BFC6"/>
                </a:solidFill>
                <a:latin typeface="Calibri" pitchFamily="34" charset="0"/>
                <a:ea typeface="Calibri" pitchFamily="34" charset="-122"/>
                <a:cs typeface="Calibri" pitchFamily="34" charset="-120"/>
              </a:rPr>
              <a:t>Once a producer’s catalogue lives here, they never re-key it anywhere else.</a:t>
            </a:r>
            <a:endParaRPr lang="en-US" sz="1300" dirty="0"/>
          </a:p>
        </p:txBody>
      </p:sp>
      <p:sp>
        <p:nvSpPr>
          <p:cNvPr id="10" name="Text 8"/>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1" name="Text 9"/>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COMPETITION</a:t>
            </a:r>
            <a:endParaRPr lang="en-US" sz="1100" dirty="0"/>
          </a:p>
        </p:txBody>
      </p:sp>
      <p:sp>
        <p:nvSpPr>
          <p:cNvPr id="3" name="Text 1"/>
          <p:cNvSpPr/>
          <p:nvPr/>
        </p:nvSpPr>
        <p:spPr>
          <a:xfrm>
            <a:off x="777240" y="731520"/>
            <a:ext cx="10607040" cy="1051560"/>
          </a:xfrm>
          <a:prstGeom prst="rect">
            <a:avLst/>
          </a:prstGeom>
          <a:noFill/>
          <a:ln/>
        </p:spPr>
        <p:txBody>
          <a:bodyPr wrap="square" lIns="0" tIns="0" rIns="0" bIns="0" rtlCol="0" anchor="ctr"/>
          <a:lstStyle/>
          <a:p>
            <a:pPr indent="0" marL="0">
              <a:lnSpc>
                <a:spcPts val="3800"/>
              </a:lnSpc>
              <a:buNone/>
            </a:pPr>
            <a:r>
              <a:rPr lang="en-US" sz="2800" b="1" dirty="0">
                <a:solidFill>
                  <a:srgbClr val="16181B"/>
                </a:solidFill>
                <a:latin typeface="Bookman Old Style" pitchFamily="34" charset="0"/>
                <a:ea typeface="Bookman Old Style" pitchFamily="34" charset="-122"/>
                <a:cs typeface="Bookman Old Style" pitchFamily="34" charset="-120"/>
              </a:rPr>
              <a:t>Everyone monetises the artist’s attention.</a:t>
            </a:r>
            <a:endParaRPr lang="en-US" sz="2800" dirty="0"/>
          </a:p>
          <a:p>
            <a:pPr indent="0" marL="0">
              <a:lnSpc>
                <a:spcPts val="3800"/>
              </a:lnSpc>
              <a:buNone/>
            </a:pPr>
            <a:r>
              <a:rPr lang="en-US" sz="2800" b="1" dirty="0">
                <a:solidFill>
                  <a:srgbClr val="16181B"/>
                </a:solidFill>
                <a:latin typeface="Bookman Old Style" pitchFamily="34" charset="0"/>
                <a:ea typeface="Bookman Old Style" pitchFamily="34" charset="-122"/>
                <a:cs typeface="Bookman Old Style" pitchFamily="34" charset="-120"/>
              </a:rPr>
              <a:t>Nobody works for the artist.</a:t>
            </a:r>
            <a:endParaRPr lang="en-US" sz="2800" dirty="0"/>
          </a:p>
        </p:txBody>
      </p:sp>
      <p:sp>
        <p:nvSpPr>
          <p:cNvPr id="4" name="Shape 2"/>
          <p:cNvSpPr/>
          <p:nvPr/>
        </p:nvSpPr>
        <p:spPr>
          <a:xfrm>
            <a:off x="1600200" y="2377440"/>
            <a:ext cx="8778240" cy="3291840"/>
          </a:xfrm>
          <a:prstGeom prst="rect">
            <a:avLst/>
          </a:prstGeom>
          <a:solidFill>
            <a:srgbClr val="FFFFFF"/>
          </a:solidFill>
          <a:ln w="12700">
            <a:solidFill>
              <a:srgbClr val="D6D1C4"/>
            </a:solidFill>
            <a:prstDash val="solid"/>
          </a:ln>
        </p:spPr>
      </p:sp>
      <p:sp>
        <p:nvSpPr>
          <p:cNvPr id="5" name="Shape 3"/>
          <p:cNvSpPr/>
          <p:nvPr/>
        </p:nvSpPr>
        <p:spPr>
          <a:xfrm>
            <a:off x="5989320" y="2377440"/>
            <a:ext cx="0" cy="3291840"/>
          </a:xfrm>
          <a:prstGeom prst="line">
            <a:avLst/>
          </a:prstGeom>
          <a:noFill/>
          <a:ln w="12700">
            <a:solidFill>
              <a:srgbClr val="D6D1C4"/>
            </a:solidFill>
            <a:prstDash val="solid"/>
          </a:ln>
        </p:spPr>
      </p:sp>
      <p:sp>
        <p:nvSpPr>
          <p:cNvPr id="6" name="Shape 4"/>
          <p:cNvSpPr/>
          <p:nvPr/>
        </p:nvSpPr>
        <p:spPr>
          <a:xfrm>
            <a:off x="1600200" y="4023360"/>
            <a:ext cx="8778240" cy="0"/>
          </a:xfrm>
          <a:prstGeom prst="line">
            <a:avLst/>
          </a:prstGeom>
          <a:noFill/>
          <a:ln w="12700">
            <a:solidFill>
              <a:srgbClr val="D6D1C4"/>
            </a:solidFill>
            <a:prstDash val="solid"/>
          </a:ln>
        </p:spPr>
      </p:sp>
      <p:sp>
        <p:nvSpPr>
          <p:cNvPr id="7" name="Text 5"/>
          <p:cNvSpPr/>
          <p:nvPr/>
        </p:nvSpPr>
        <p:spPr>
          <a:xfrm>
            <a:off x="1783080" y="2514600"/>
            <a:ext cx="3931920" cy="256032"/>
          </a:xfrm>
          <a:prstGeom prst="rect">
            <a:avLst/>
          </a:prstGeom>
          <a:noFill/>
          <a:ln/>
        </p:spPr>
        <p:txBody>
          <a:bodyPr wrap="square" lIns="0" tIns="0" rIns="0" bIns="0" rtlCol="0" anchor="ctr"/>
          <a:lstStyle/>
          <a:p>
            <a:pPr indent="0" marL="0">
              <a:buNone/>
            </a:pPr>
            <a:r>
              <a:rPr lang="en-US" sz="1100" b="1" dirty="0">
                <a:solidFill>
                  <a:srgbClr val="6A6F76"/>
                </a:solidFill>
                <a:latin typeface="Calibri" pitchFamily="34" charset="0"/>
                <a:ea typeface="Calibri" pitchFamily="34" charset="-122"/>
                <a:cs typeface="Calibri" pitchFamily="34" charset="-120"/>
              </a:rPr>
              <a:t>Attention only</a:t>
            </a:r>
            <a:endParaRPr lang="en-US" sz="1100" dirty="0"/>
          </a:p>
        </p:txBody>
      </p:sp>
      <p:sp>
        <p:nvSpPr>
          <p:cNvPr id="8" name="Text 6"/>
          <p:cNvSpPr/>
          <p:nvPr/>
        </p:nvSpPr>
        <p:spPr>
          <a:xfrm>
            <a:off x="6172200" y="2514600"/>
            <a:ext cx="3931920" cy="256032"/>
          </a:xfrm>
          <a:prstGeom prst="rect">
            <a:avLst/>
          </a:prstGeom>
          <a:noFill/>
          <a:ln/>
        </p:spPr>
        <p:txBody>
          <a:bodyPr wrap="square" lIns="0" tIns="0" rIns="0" bIns="0" rtlCol="0" anchor="ctr"/>
          <a:lstStyle/>
          <a:p>
            <a:pPr indent="0" marL="0">
              <a:buNone/>
            </a:pPr>
            <a:r>
              <a:rPr lang="en-US" sz="1100" b="1" dirty="0">
                <a:solidFill>
                  <a:srgbClr val="6A6F76"/>
                </a:solidFill>
                <a:latin typeface="Calibri" pitchFamily="34" charset="0"/>
                <a:ea typeface="Calibri" pitchFamily="34" charset="-122"/>
                <a:cs typeface="Calibri" pitchFamily="34" charset="-120"/>
              </a:rPr>
              <a:t>Transaction rail</a:t>
            </a:r>
            <a:endParaRPr lang="en-US" sz="1100" dirty="0"/>
          </a:p>
        </p:txBody>
      </p:sp>
      <p:sp>
        <p:nvSpPr>
          <p:cNvPr id="9" name="Text 7"/>
          <p:cNvSpPr/>
          <p:nvPr/>
        </p:nvSpPr>
        <p:spPr>
          <a:xfrm>
            <a:off x="1783080" y="3063240"/>
            <a:ext cx="3931920" cy="777240"/>
          </a:xfrm>
          <a:prstGeom prst="rect">
            <a:avLst/>
          </a:prstGeom>
          <a:noFill/>
          <a:ln/>
        </p:spPr>
        <p:txBody>
          <a:bodyPr wrap="square" lIns="0" tIns="0" rIns="0" bIns="0" rtlCol="0" anchor="ctr"/>
          <a:lstStyle/>
          <a:p>
            <a:pPr indent="0" marL="0">
              <a:buNone/>
            </a:pPr>
            <a:r>
              <a:rPr lang="en-US" sz="1300" dirty="0">
                <a:solidFill>
                  <a:srgbClr val="16181B"/>
                </a:solidFill>
                <a:latin typeface="Calibri" pitchFamily="34" charset="0"/>
                <a:ea typeface="Calibri" pitchFamily="34" charset="-122"/>
                <a:cs typeface="Calibri" pitchFamily="34" charset="-120"/>
              </a:rPr>
              <a:t>Streaming · Social</a:t>
            </a:r>
            <a:endParaRPr lang="en-US" sz="1300" dirty="0"/>
          </a:p>
          <a:p>
            <a:pPr indent="0" marL="0">
              <a:buNone/>
            </a:pPr>
            <a:r>
              <a:rPr lang="en-US" sz="1300" dirty="0">
                <a:solidFill>
                  <a:srgbClr val="16181B"/>
                </a:solidFill>
                <a:latin typeface="Calibri" pitchFamily="34" charset="0"/>
                <a:ea typeface="Calibri" pitchFamily="34" charset="-122"/>
                <a:cs typeface="Calibri" pitchFamily="34" charset="-120"/>
              </a:rPr>
              <a:t>Distribution</a:t>
            </a:r>
            <a:endParaRPr lang="en-US" sz="1300" dirty="0"/>
          </a:p>
        </p:txBody>
      </p:sp>
      <p:sp>
        <p:nvSpPr>
          <p:cNvPr id="10" name="Text 8"/>
          <p:cNvSpPr/>
          <p:nvPr/>
        </p:nvSpPr>
        <p:spPr>
          <a:xfrm>
            <a:off x="6172200" y="3063240"/>
            <a:ext cx="3931920" cy="777240"/>
          </a:xfrm>
          <a:prstGeom prst="rect">
            <a:avLst/>
          </a:prstGeom>
          <a:noFill/>
          <a:ln/>
        </p:spPr>
        <p:txBody>
          <a:bodyPr wrap="square" lIns="0" tIns="0" rIns="0" bIns="0" rtlCol="0" anchor="ctr"/>
          <a:lstStyle/>
          <a:p>
            <a:pPr indent="0" marL="0">
              <a:buNone/>
            </a:pPr>
            <a:r>
              <a:rPr lang="en-US" sz="1300" dirty="0">
                <a:solidFill>
                  <a:srgbClr val="16181B"/>
                </a:solidFill>
                <a:latin typeface="Calibri" pitchFamily="34" charset="0"/>
                <a:ea typeface="Calibri" pitchFamily="34" charset="-122"/>
                <a:cs typeface="Calibri" pitchFamily="34" charset="-120"/>
              </a:rPr>
              <a:t>Ticketing platforms</a:t>
            </a:r>
            <a:endParaRPr lang="en-US" sz="1300" dirty="0"/>
          </a:p>
          <a:p>
            <a:pPr indent="0" marL="0">
              <a:buNone/>
            </a:pPr>
            <a:r>
              <a:rPr lang="en-US" sz="1300" dirty="0">
                <a:solidFill>
                  <a:srgbClr val="16181B"/>
                </a:solidFill>
                <a:latin typeface="Calibri" pitchFamily="34" charset="0"/>
                <a:ea typeface="Calibri" pitchFamily="34" charset="-122"/>
                <a:cs typeface="Calibri" pitchFamily="34" charset="-120"/>
              </a:rPr>
              <a:t>Booking marketplaces</a:t>
            </a:r>
            <a:endParaRPr lang="en-US" sz="1300" dirty="0"/>
          </a:p>
        </p:txBody>
      </p:sp>
      <p:sp>
        <p:nvSpPr>
          <p:cNvPr id="11" name="Text 9"/>
          <p:cNvSpPr/>
          <p:nvPr/>
        </p:nvSpPr>
        <p:spPr>
          <a:xfrm>
            <a:off x="1783080" y="4617720"/>
            <a:ext cx="3931920" cy="777240"/>
          </a:xfrm>
          <a:prstGeom prst="rect">
            <a:avLst/>
          </a:prstGeom>
          <a:noFill/>
          <a:ln/>
        </p:spPr>
        <p:txBody>
          <a:bodyPr wrap="square" lIns="0" tIns="0" rIns="0" bIns="0" rtlCol="0" anchor="ctr"/>
          <a:lstStyle/>
          <a:p>
            <a:pPr indent="0" marL="0">
              <a:buNone/>
            </a:pPr>
            <a:r>
              <a:rPr lang="en-US" sz="1300" dirty="0">
                <a:solidFill>
                  <a:srgbClr val="16181B"/>
                </a:solidFill>
                <a:latin typeface="Calibri" pitchFamily="34" charset="0"/>
                <a:ea typeface="Calibri" pitchFamily="34" charset="-122"/>
                <a:cs typeface="Calibri" pitchFamily="34" charset="-120"/>
              </a:rPr>
              <a:t>Artist tools</a:t>
            </a:r>
            <a:endParaRPr lang="en-US" sz="1300" dirty="0"/>
          </a:p>
          <a:p>
            <a:pPr indent="0" marL="0">
              <a:buNone/>
            </a:pPr>
            <a:r>
              <a:rPr lang="en-US" sz="1300" dirty="0">
                <a:solidFill>
                  <a:srgbClr val="16181B"/>
                </a:solidFill>
                <a:latin typeface="Calibri" pitchFamily="34" charset="0"/>
                <a:ea typeface="Calibri" pitchFamily="34" charset="-122"/>
                <a:cs typeface="Calibri" pitchFamily="34" charset="-120"/>
              </a:rPr>
              <a:t>EPK builders</a:t>
            </a:r>
            <a:endParaRPr lang="en-US" sz="1300" dirty="0"/>
          </a:p>
        </p:txBody>
      </p:sp>
      <p:sp>
        <p:nvSpPr>
          <p:cNvPr id="12" name="Shape 10"/>
          <p:cNvSpPr/>
          <p:nvPr/>
        </p:nvSpPr>
        <p:spPr>
          <a:xfrm>
            <a:off x="6035040" y="4069080"/>
            <a:ext cx="4297680" cy="1554480"/>
          </a:xfrm>
          <a:prstGeom prst="rect">
            <a:avLst/>
          </a:prstGeom>
          <a:solidFill>
            <a:srgbClr val="C1272D"/>
          </a:solidFill>
          <a:ln/>
        </p:spPr>
      </p:sp>
      <p:sp>
        <p:nvSpPr>
          <p:cNvPr id="13" name="Text 11"/>
          <p:cNvSpPr/>
          <p:nvPr/>
        </p:nvSpPr>
        <p:spPr>
          <a:xfrm>
            <a:off x="6217920" y="4526280"/>
            <a:ext cx="3931920" cy="457200"/>
          </a:xfrm>
          <a:prstGeom prst="rect">
            <a:avLst/>
          </a:prstGeom>
          <a:noFill/>
          <a:ln/>
        </p:spPr>
        <p:txBody>
          <a:bodyPr wrap="square" lIns="0" tIns="0" rIns="0" bIns="0" rtlCol="0" anchor="ctr"/>
          <a:lstStyle/>
          <a:p>
            <a:pPr indent="0" marL="0">
              <a:buNone/>
            </a:pPr>
            <a:r>
              <a:rPr lang="en-US" sz="2200" b="1" dirty="0">
                <a:solidFill>
                  <a:srgbClr val="FFFFFF"/>
                </a:solidFill>
                <a:latin typeface="Bookman Old Style" pitchFamily="34" charset="0"/>
                <a:ea typeface="Bookman Old Style" pitchFamily="34" charset="-122"/>
                <a:cs typeface="Bookman Old Style" pitchFamily="34" charset="-120"/>
              </a:rPr>
              <a:t>SHOUTOUT</a:t>
            </a:r>
            <a:endParaRPr lang="en-US" sz="2200" dirty="0"/>
          </a:p>
        </p:txBody>
      </p:sp>
      <p:sp>
        <p:nvSpPr>
          <p:cNvPr id="14" name="Text 12"/>
          <p:cNvSpPr/>
          <p:nvPr/>
        </p:nvSpPr>
        <p:spPr>
          <a:xfrm>
            <a:off x="6217920" y="5029200"/>
            <a:ext cx="3931920" cy="274320"/>
          </a:xfrm>
          <a:prstGeom prst="rect">
            <a:avLst/>
          </a:prstGeom>
          <a:noFill/>
          <a:ln/>
        </p:spPr>
        <p:txBody>
          <a:bodyPr wrap="square" lIns="0" tIns="0" rIns="0" bIns="0" rtlCol="0" anchor="ctr"/>
          <a:lstStyle/>
          <a:p>
            <a:pPr indent="0" marL="0">
              <a:buNone/>
            </a:pPr>
            <a:r>
              <a:rPr lang="en-US" sz="1200" dirty="0">
                <a:solidFill>
                  <a:srgbClr val="F5D6D8"/>
                </a:solidFill>
                <a:latin typeface="Calibri" pitchFamily="34" charset="0"/>
                <a:ea typeface="Calibri" pitchFamily="34" charset="-122"/>
                <a:cs typeface="Calibri" pitchFamily="34" charset="-120"/>
              </a:rPr>
              <a:t>Alone in this quadrant</a:t>
            </a:r>
            <a:endParaRPr lang="en-US" sz="1200" dirty="0"/>
          </a:p>
        </p:txBody>
      </p:sp>
      <p:sp>
        <p:nvSpPr>
          <p:cNvPr id="15" name="Text 13"/>
          <p:cNvSpPr/>
          <p:nvPr/>
        </p:nvSpPr>
        <p:spPr>
          <a:xfrm>
            <a:off x="457200" y="3154680"/>
            <a:ext cx="1143000" cy="365760"/>
          </a:xfrm>
          <a:prstGeom prst="rect">
            <a:avLst/>
          </a:prstGeom>
          <a:noFill/>
          <a:ln/>
        </p:spPr>
        <p:txBody>
          <a:bodyPr wrap="square" lIns="0" tIns="0" rIns="0" bIns="0" rtlCol="0" anchor="ctr"/>
          <a:lstStyle/>
          <a:p>
            <a:pPr indent="0" marL="0">
              <a:buNone/>
            </a:pPr>
            <a:r>
              <a:rPr lang="en-US" sz="1000" b="1" dirty="0">
                <a:solidFill>
                  <a:srgbClr val="6A6F76"/>
                </a:solidFill>
                <a:latin typeface="Calibri" pitchFamily="34" charset="0"/>
                <a:ea typeface="Calibri" pitchFamily="34" charset="-122"/>
                <a:cs typeface="Calibri" pitchFamily="34" charset="-120"/>
              </a:rPr>
              <a:t>Platform-side</a:t>
            </a:r>
            <a:endParaRPr lang="en-US" sz="1000" dirty="0"/>
          </a:p>
        </p:txBody>
      </p:sp>
      <p:sp>
        <p:nvSpPr>
          <p:cNvPr id="16" name="Text 14"/>
          <p:cNvSpPr/>
          <p:nvPr/>
        </p:nvSpPr>
        <p:spPr>
          <a:xfrm>
            <a:off x="457200" y="4709160"/>
            <a:ext cx="1143000" cy="365760"/>
          </a:xfrm>
          <a:prstGeom prst="rect">
            <a:avLst/>
          </a:prstGeom>
          <a:noFill/>
          <a:ln/>
        </p:spPr>
        <p:txBody>
          <a:bodyPr wrap="square" lIns="0" tIns="0" rIns="0" bIns="0" rtlCol="0" anchor="ctr"/>
          <a:lstStyle/>
          <a:p>
            <a:pPr indent="0" marL="0">
              <a:buNone/>
            </a:pPr>
            <a:r>
              <a:rPr lang="en-US" sz="1000" b="1" dirty="0">
                <a:solidFill>
                  <a:srgbClr val="6A6F76"/>
                </a:solidFill>
                <a:latin typeface="Calibri" pitchFamily="34" charset="0"/>
                <a:ea typeface="Calibri" pitchFamily="34" charset="-122"/>
                <a:cs typeface="Calibri" pitchFamily="34" charset="-120"/>
              </a:rPr>
              <a:t>Artist-side</a:t>
            </a:r>
            <a:endParaRPr lang="en-US" sz="1000" dirty="0"/>
          </a:p>
        </p:txBody>
      </p:sp>
      <p:sp>
        <p:nvSpPr>
          <p:cNvPr id="17" name="Text 15"/>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8" name="Text 16"/>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90 days: build the object,</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prove the network</a:t>
            </a:r>
            <a:endParaRPr lang="en-US" sz="3400" dirty="0"/>
          </a:p>
        </p:txBody>
      </p:sp>
      <p:sp>
        <p:nvSpPr>
          <p:cNvPr id="4" name="Shape 2"/>
          <p:cNvSpPr/>
          <p:nvPr/>
        </p:nvSpPr>
        <p:spPr>
          <a:xfrm>
            <a:off x="777240" y="2468880"/>
            <a:ext cx="1234440" cy="658368"/>
          </a:xfrm>
          <a:prstGeom prst="rect">
            <a:avLst/>
          </a:prstGeom>
          <a:solidFill>
            <a:srgbClr val="16181B"/>
          </a:solidFill>
          <a:ln/>
        </p:spPr>
      </p:sp>
      <p:sp>
        <p:nvSpPr>
          <p:cNvPr id="5" name="Text 3"/>
          <p:cNvSpPr/>
          <p:nvPr/>
        </p:nvSpPr>
        <p:spPr>
          <a:xfrm>
            <a:off x="777240" y="265176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W1–2</a:t>
            </a:r>
            <a:endParaRPr lang="en-US" sz="1200" dirty="0"/>
          </a:p>
        </p:txBody>
      </p:sp>
      <p:sp>
        <p:nvSpPr>
          <p:cNvPr id="6" name="Text 4"/>
          <p:cNvSpPr/>
          <p:nvPr/>
        </p:nvSpPr>
        <p:spPr>
          <a:xfrm>
            <a:off x="2240280" y="248716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Foundation</a:t>
            </a:r>
            <a:endParaRPr lang="en-US" sz="1450" dirty="0"/>
          </a:p>
        </p:txBody>
      </p:sp>
      <p:sp>
        <p:nvSpPr>
          <p:cNvPr id="7" name="Text 5"/>
          <p:cNvSpPr/>
          <p:nvPr/>
        </p:nvSpPr>
        <p:spPr>
          <a:xfrm>
            <a:off x="5166360" y="249631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New repo, multi-tenant database, auth. WhatsApp templates submitted — three-week lead time.</a:t>
            </a:r>
            <a:endParaRPr lang="en-US" sz="1200" dirty="0"/>
          </a:p>
        </p:txBody>
      </p:sp>
      <p:sp>
        <p:nvSpPr>
          <p:cNvPr id="8" name="Shape 6"/>
          <p:cNvSpPr/>
          <p:nvPr/>
        </p:nvSpPr>
        <p:spPr>
          <a:xfrm>
            <a:off x="777240" y="3337560"/>
            <a:ext cx="1234440" cy="658368"/>
          </a:xfrm>
          <a:prstGeom prst="rect">
            <a:avLst/>
          </a:prstGeom>
          <a:solidFill>
            <a:srgbClr val="16181B"/>
          </a:solidFill>
          <a:ln/>
        </p:spPr>
      </p:sp>
      <p:sp>
        <p:nvSpPr>
          <p:cNvPr id="9" name="Text 7"/>
          <p:cNvSpPr/>
          <p:nvPr/>
        </p:nvSpPr>
        <p:spPr>
          <a:xfrm>
            <a:off x="777240" y="352044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W3–5</a:t>
            </a:r>
            <a:endParaRPr lang="en-US" sz="1200" dirty="0"/>
          </a:p>
        </p:txBody>
      </p:sp>
      <p:sp>
        <p:nvSpPr>
          <p:cNvPr id="10" name="Text 8"/>
          <p:cNvSpPr/>
          <p:nvPr/>
        </p:nvSpPr>
        <p:spPr>
          <a:xfrm>
            <a:off x="2240280" y="335584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The Shout object</a:t>
            </a:r>
            <a:endParaRPr lang="en-US" sz="1450" dirty="0"/>
          </a:p>
        </p:txBody>
      </p:sp>
      <p:sp>
        <p:nvSpPr>
          <p:cNvPr id="11" name="Text 9"/>
          <p:cNvSpPr/>
          <p:nvPr/>
        </p:nvSpPr>
        <p:spPr>
          <a:xfrm>
            <a:off x="5166360" y="336499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One polymorphic object, one match engine. Everything downstream reuses it.</a:t>
            </a:r>
            <a:endParaRPr lang="en-US" sz="1200" dirty="0"/>
          </a:p>
        </p:txBody>
      </p:sp>
      <p:sp>
        <p:nvSpPr>
          <p:cNvPr id="12" name="Shape 10"/>
          <p:cNvSpPr/>
          <p:nvPr/>
        </p:nvSpPr>
        <p:spPr>
          <a:xfrm>
            <a:off x="777240" y="4206240"/>
            <a:ext cx="1234440" cy="658368"/>
          </a:xfrm>
          <a:prstGeom prst="rect">
            <a:avLst/>
          </a:prstGeom>
          <a:solidFill>
            <a:srgbClr val="16181B"/>
          </a:solidFill>
          <a:ln/>
        </p:spPr>
      </p:sp>
      <p:sp>
        <p:nvSpPr>
          <p:cNvPr id="13" name="Text 11"/>
          <p:cNvSpPr/>
          <p:nvPr/>
        </p:nvSpPr>
        <p:spPr>
          <a:xfrm>
            <a:off x="777240" y="438912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W5–8</a:t>
            </a:r>
            <a:endParaRPr lang="en-US" sz="1200" dirty="0"/>
          </a:p>
        </p:txBody>
      </p:sp>
      <p:sp>
        <p:nvSpPr>
          <p:cNvPr id="14" name="Text 12"/>
          <p:cNvSpPr/>
          <p:nvPr/>
        </p:nvSpPr>
        <p:spPr>
          <a:xfrm>
            <a:off x="2240280" y="422452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Collab network v1</a:t>
            </a:r>
            <a:endParaRPr lang="en-US" sz="1450" dirty="0"/>
          </a:p>
        </p:txBody>
      </p:sp>
      <p:sp>
        <p:nvSpPr>
          <p:cNvPr id="15" name="Text 13"/>
          <p:cNvSpPr/>
          <p:nvPr/>
        </p:nvSpPr>
        <p:spPr>
          <a:xfrm>
            <a:off x="5166360" y="423367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Role profiles, multi-slot Shouts, Rooms, split sheets. Plus 25 gig bookings brokered by hand.</a:t>
            </a:r>
            <a:endParaRPr lang="en-US" sz="1200" dirty="0"/>
          </a:p>
        </p:txBody>
      </p:sp>
      <p:sp>
        <p:nvSpPr>
          <p:cNvPr id="16" name="Shape 14"/>
          <p:cNvSpPr/>
          <p:nvPr/>
        </p:nvSpPr>
        <p:spPr>
          <a:xfrm>
            <a:off x="777240" y="5074920"/>
            <a:ext cx="1234440" cy="658368"/>
          </a:xfrm>
          <a:prstGeom prst="rect">
            <a:avLst/>
          </a:prstGeom>
          <a:solidFill>
            <a:srgbClr val="16181B"/>
          </a:solidFill>
          <a:ln/>
        </p:spPr>
      </p:sp>
      <p:sp>
        <p:nvSpPr>
          <p:cNvPr id="17" name="Text 15"/>
          <p:cNvSpPr/>
          <p:nvPr/>
        </p:nvSpPr>
        <p:spPr>
          <a:xfrm>
            <a:off x="777240" y="5257800"/>
            <a:ext cx="12344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W9–12</a:t>
            </a:r>
            <a:endParaRPr lang="en-US" sz="1200" dirty="0"/>
          </a:p>
        </p:txBody>
      </p:sp>
      <p:sp>
        <p:nvSpPr>
          <p:cNvPr id="18" name="Text 16"/>
          <p:cNvSpPr/>
          <p:nvPr/>
        </p:nvSpPr>
        <p:spPr>
          <a:xfrm>
            <a:off x="2240280" y="5093208"/>
            <a:ext cx="2834640" cy="292608"/>
          </a:xfrm>
          <a:prstGeom prst="rect">
            <a:avLst/>
          </a:prstGeom>
          <a:noFill/>
          <a:ln/>
        </p:spPr>
        <p:txBody>
          <a:bodyPr wrap="square" lIns="0" tIns="0" rIns="0" bIns="0" rtlCol="0" anchor="ctr"/>
          <a:lstStyle/>
          <a:p>
            <a:pPr indent="0" marL="0">
              <a:buNone/>
            </a:pPr>
            <a:r>
              <a:rPr lang="en-US" sz="1450" b="1" dirty="0">
                <a:solidFill>
                  <a:srgbClr val="C1272D"/>
                </a:solidFill>
                <a:latin typeface="Calibri" pitchFamily="34" charset="0"/>
                <a:ea typeface="Calibri" pitchFamily="34" charset="-122"/>
                <a:cs typeface="Calibri" pitchFamily="34" charset="-120"/>
              </a:rPr>
              <a:t>Settle rail</a:t>
            </a:r>
            <a:endParaRPr lang="en-US" sz="1450" dirty="0"/>
          </a:p>
        </p:txBody>
      </p:sp>
      <p:sp>
        <p:nvSpPr>
          <p:cNvPr id="19" name="Text 17"/>
          <p:cNvSpPr/>
          <p:nvPr/>
        </p:nvSpPr>
        <p:spPr>
          <a:xfrm>
            <a:off x="5166360" y="5102352"/>
            <a:ext cx="6217920" cy="621792"/>
          </a:xfrm>
          <a:prstGeom prst="rect">
            <a:avLst/>
          </a:prstGeom>
          <a:noFill/>
          <a:ln/>
        </p:spPr>
        <p:txBody>
          <a:bodyPr wrap="square" lIns="0" tIns="0" rIns="0" bIns="0" rtlCol="0" anchor="ctr"/>
          <a:lstStyle/>
          <a:p>
            <a:pPr indent="0" marL="0">
              <a:lnSpc>
                <a:spcPts val="1500"/>
              </a:lnSpc>
              <a:buNone/>
            </a:pPr>
            <a:r>
              <a:rPr lang="en-US" sz="1200" dirty="0">
                <a:solidFill>
                  <a:srgbClr val="6A6F76"/>
                </a:solidFill>
                <a:latin typeface="Calibri" pitchFamily="34" charset="0"/>
                <a:ea typeface="Calibri" pitchFamily="34" charset="-122"/>
                <a:cs typeface="Calibri" pitchFamily="34" charset="-120"/>
              </a:rPr>
              <a:t>Contracts, escrow, splits, payouts. First three-way collab split settling to zero automatically.</a:t>
            </a:r>
            <a:endParaRPr lang="en-US" sz="1200" dirty="0"/>
          </a:p>
        </p:txBody>
      </p:sp>
      <p:sp>
        <p:nvSpPr>
          <p:cNvPr id="20" name="Text 18"/>
          <p:cNvSpPr/>
          <p:nvPr/>
        </p:nvSpPr>
        <p:spPr>
          <a:xfrm>
            <a:off x="777240" y="5897880"/>
            <a:ext cx="10607040" cy="320040"/>
          </a:xfrm>
          <a:prstGeom prst="rect">
            <a:avLst/>
          </a:prstGeom>
          <a:noFill/>
          <a:ln/>
        </p:spPr>
        <p:txBody>
          <a:bodyPr wrap="square" lIns="0" tIns="0" rIns="0" bIns="0" rtlCol="0" anchor="ctr"/>
          <a:lstStyle/>
          <a:p>
            <a:pPr indent="0" marL="0">
              <a:buNone/>
            </a:pPr>
            <a:r>
              <a:rPr lang="en-US" sz="1200" i="1" dirty="0">
                <a:solidFill>
                  <a:srgbClr val="16181B"/>
                </a:solidFill>
                <a:latin typeface="Calibri" pitchFamily="34" charset="0"/>
                <a:ea typeface="Calibri" pitchFamily="34" charset="-122"/>
                <a:cs typeface="Calibri" pitchFamily="34" charset="-120"/>
              </a:rPr>
              <a:t>25 bookings brokered manually before a line of booking code is written. Those deals define the schema and seed the price index.</a:t>
            </a:r>
            <a:endParaRPr lang="en-US" sz="1200" dirty="0"/>
          </a:p>
        </p:txBody>
      </p:sp>
      <p:sp>
        <p:nvSpPr>
          <p:cNvPr id="21" name="Text 19"/>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22" name="Text 20"/>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AE2"/>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C1272D"/>
                </a:solidFill>
                <a:latin typeface="Calibri" pitchFamily="34" charset="0"/>
                <a:ea typeface="Calibri" pitchFamily="34" charset="-122"/>
                <a:cs typeface="Calibri" pitchFamily="34" charset="-120"/>
              </a:rPr>
              <a:t>TEAM</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Built by someone who has</a:t>
            </a:r>
            <a:endParaRPr lang="en-US" sz="3400" dirty="0"/>
          </a:p>
          <a:p>
            <a:pPr indent="0" marL="0">
              <a:lnSpc>
                <a:spcPts val="3800"/>
              </a:lnSpc>
              <a:buNone/>
            </a:pPr>
            <a:r>
              <a:rPr lang="en-US" sz="3400" b="1" dirty="0">
                <a:solidFill>
                  <a:srgbClr val="16181B"/>
                </a:solidFill>
                <a:latin typeface="Bookman Old Style" pitchFamily="34" charset="0"/>
                <a:ea typeface="Bookman Old Style" pitchFamily="34" charset="-122"/>
                <a:cs typeface="Bookman Old Style" pitchFamily="34" charset="-120"/>
              </a:rPr>
              <a:t>already shipped this stack</a:t>
            </a:r>
            <a:endParaRPr lang="en-US" sz="3400" dirty="0"/>
          </a:p>
        </p:txBody>
      </p:sp>
      <p:sp>
        <p:nvSpPr>
          <p:cNvPr id="4" name="Shape 2"/>
          <p:cNvSpPr/>
          <p:nvPr/>
        </p:nvSpPr>
        <p:spPr>
          <a:xfrm>
            <a:off x="777240" y="2468880"/>
            <a:ext cx="5120640" cy="2926080"/>
          </a:xfrm>
          <a:prstGeom prst="rect">
            <a:avLst/>
          </a:prstGeom>
          <a:solidFill>
            <a:srgbClr val="FFFFFF"/>
          </a:solidFill>
          <a:ln w="12700">
            <a:solidFill>
              <a:srgbClr val="D6D1C4"/>
            </a:solidFill>
            <a:prstDash val="solid"/>
          </a:ln>
        </p:spPr>
      </p:sp>
      <p:sp>
        <p:nvSpPr>
          <p:cNvPr id="5" name="Text 3"/>
          <p:cNvSpPr/>
          <p:nvPr/>
        </p:nvSpPr>
        <p:spPr>
          <a:xfrm>
            <a:off x="1051560" y="2697480"/>
            <a:ext cx="457200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What is already built</a:t>
            </a:r>
            <a:endParaRPr lang="en-US" sz="1500" dirty="0"/>
          </a:p>
        </p:txBody>
      </p:sp>
      <p:sp>
        <p:nvSpPr>
          <p:cNvPr id="6" name="Text 4"/>
          <p:cNvSpPr/>
          <p:nvPr/>
        </p:nvSpPr>
        <p:spPr>
          <a:xfrm>
            <a:off x="1051560" y="3108960"/>
            <a:ext cx="4572000" cy="21488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Performance marketing across Meta and Google, UK and US markets</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Lifecycle and CRM automation — 40-email subscription flows in production</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marketing-automation SaaS with a data engine and human-in-the-loop asset generation</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music generation engine with a deterministic semantic intent schema — now the platform’s shared brief object</a:t>
            </a:r>
            <a:endParaRPr lang="en-US" sz="1200" dirty="0"/>
          </a:p>
        </p:txBody>
      </p:sp>
      <p:sp>
        <p:nvSpPr>
          <p:cNvPr id="7" name="Shape 5"/>
          <p:cNvSpPr/>
          <p:nvPr/>
        </p:nvSpPr>
        <p:spPr>
          <a:xfrm>
            <a:off x="6263640" y="2468880"/>
            <a:ext cx="5120640" cy="2926080"/>
          </a:xfrm>
          <a:prstGeom prst="rect">
            <a:avLst/>
          </a:prstGeom>
          <a:solidFill>
            <a:srgbClr val="FFFFFF"/>
          </a:solidFill>
          <a:ln w="12700">
            <a:solidFill>
              <a:srgbClr val="D6D1C4"/>
            </a:solidFill>
            <a:prstDash val="solid"/>
          </a:ln>
        </p:spPr>
      </p:sp>
      <p:sp>
        <p:nvSpPr>
          <p:cNvPr id="8" name="Text 6"/>
          <p:cNvSpPr/>
          <p:nvPr/>
        </p:nvSpPr>
        <p:spPr>
          <a:xfrm>
            <a:off x="6537960" y="2697480"/>
            <a:ext cx="4572000" cy="292608"/>
          </a:xfrm>
          <a:prstGeom prst="rect">
            <a:avLst/>
          </a:prstGeom>
          <a:noFill/>
          <a:ln/>
        </p:spPr>
        <p:txBody>
          <a:bodyPr wrap="square" lIns="0" tIns="0" rIns="0" bIns="0" rtlCol="0" anchor="ctr"/>
          <a:lstStyle/>
          <a:p>
            <a:pPr indent="0" marL="0">
              <a:buNone/>
            </a:pPr>
            <a:r>
              <a:rPr lang="en-US" sz="1500" b="1" dirty="0">
                <a:solidFill>
                  <a:srgbClr val="C1272D"/>
                </a:solidFill>
                <a:latin typeface="Calibri" pitchFamily="34" charset="0"/>
                <a:ea typeface="Calibri" pitchFamily="34" charset="-122"/>
                <a:cs typeface="Calibri" pitchFamily="34" charset="-120"/>
              </a:rPr>
              <a:t>First two hires</a:t>
            </a:r>
            <a:endParaRPr lang="en-US" sz="1500" dirty="0"/>
          </a:p>
        </p:txBody>
      </p:sp>
      <p:sp>
        <p:nvSpPr>
          <p:cNvPr id="9" name="Text 7"/>
          <p:cNvSpPr/>
          <p:nvPr/>
        </p:nvSpPr>
        <p:spPr>
          <a:xfrm>
            <a:off x="6537960" y="3108960"/>
            <a:ext cx="4572000" cy="118872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music-industry operator who already holds manager and promoter relationships</a:t>
            </a:r>
            <a:endParaRPr lang="en-US" sz="1200" dirty="0"/>
          </a:p>
          <a:p>
            <a:pPr marL="342900" indent="-342900">
              <a:spcAft>
                <a:spcPts val="700"/>
              </a:spcAft>
              <a:buSzPct val="100000"/>
              <a:buChar char="•"/>
            </a:pPr>
            <a:r>
              <a:rPr lang="en-US" sz="1200" dirty="0">
                <a:solidFill>
                  <a:srgbClr val="16181B"/>
                </a:solidFill>
                <a:latin typeface="Calibri" pitchFamily="34" charset="0"/>
                <a:ea typeface="Calibri" pitchFamily="34" charset="-122"/>
                <a:cs typeface="Calibri" pitchFamily="34" charset="-120"/>
              </a:rPr>
              <a:t>A payments engineer for the settlement rail and split ledger</a:t>
            </a:r>
            <a:endParaRPr lang="en-US" sz="1200" dirty="0"/>
          </a:p>
        </p:txBody>
      </p:sp>
      <p:sp>
        <p:nvSpPr>
          <p:cNvPr id="10" name="Text 8"/>
          <p:cNvSpPr/>
          <p:nvPr/>
        </p:nvSpPr>
        <p:spPr>
          <a:xfrm>
            <a:off x="6537960" y="4617720"/>
            <a:ext cx="4572000" cy="640080"/>
          </a:xfrm>
          <a:prstGeom prst="rect">
            <a:avLst/>
          </a:prstGeom>
          <a:noFill/>
          <a:ln/>
        </p:spPr>
        <p:txBody>
          <a:bodyPr wrap="square" lIns="0" tIns="0" rIns="0" bIns="0" rtlCol="0" anchor="ctr"/>
          <a:lstStyle/>
          <a:p>
            <a:pPr indent="0" marL="0">
              <a:buNone/>
            </a:pPr>
            <a:r>
              <a:rPr lang="en-US" sz="1200" i="1" dirty="0">
                <a:solidFill>
                  <a:srgbClr val="6A6F76"/>
                </a:solidFill>
                <a:latin typeface="Calibri" pitchFamily="34" charset="0"/>
                <a:ea typeface="Calibri" pitchFamily="34" charset="-122"/>
                <a:cs typeface="Calibri" pitchFamily="34" charset="-120"/>
              </a:rPr>
              <a:t>Named honestly: neither gap is filled today. The plan funds both.</a:t>
            </a:r>
            <a:endParaRPr lang="en-US" sz="1200" dirty="0"/>
          </a:p>
        </p:txBody>
      </p:sp>
      <p:sp>
        <p:nvSpPr>
          <p:cNvPr id="11" name="Text 9"/>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2" name="Text 10"/>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81B"/>
        </a:solidFill>
      </p:bgPr>
    </p:bg>
    <p:spTree>
      <p:nvGrpSpPr>
        <p:cNvPr id="1" name=""/>
        <p:cNvGrpSpPr/>
        <p:nvPr/>
      </p:nvGrpSpPr>
      <p:grpSpPr>
        <a:xfrm>
          <a:off x="0" y="0"/>
          <a:ext cx="0" cy="0"/>
          <a:chOff x="0" y="0"/>
          <a:chExt cx="0" cy="0"/>
        </a:xfrm>
      </p:grpSpPr>
      <p:sp>
        <p:nvSpPr>
          <p:cNvPr id="2" name="Text 0"/>
          <p:cNvSpPr/>
          <p:nvPr/>
        </p:nvSpPr>
        <p:spPr>
          <a:xfrm>
            <a:off x="777240" y="457200"/>
            <a:ext cx="10607040" cy="256032"/>
          </a:xfrm>
          <a:prstGeom prst="rect">
            <a:avLst/>
          </a:prstGeom>
          <a:noFill/>
          <a:ln/>
        </p:spPr>
        <p:txBody>
          <a:bodyPr wrap="square" lIns="0" tIns="0" rIns="0" bIns="0" rtlCol="0" anchor="ctr"/>
          <a:lstStyle/>
          <a:p>
            <a:pPr indent="0" marL="0">
              <a:buNone/>
            </a:pPr>
            <a:r>
              <a:rPr lang="en-US" sz="1100" b="1" spc="300" kern="0" dirty="0">
                <a:solidFill>
                  <a:srgbClr val="E8B33A"/>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777240" y="777240"/>
            <a:ext cx="10607040" cy="1051560"/>
          </a:xfrm>
          <a:prstGeom prst="rect">
            <a:avLst/>
          </a:prstGeom>
          <a:noFill/>
          <a:ln/>
        </p:spPr>
        <p:txBody>
          <a:bodyPr wrap="square" lIns="0" tIns="0" rIns="0" bIns="0" rtlCol="0" anchor="ctr"/>
          <a:lstStyle/>
          <a:p>
            <a:pPr indent="0" marL="0">
              <a:lnSpc>
                <a:spcPts val="3800"/>
              </a:lnSpc>
              <a:buNone/>
            </a:pPr>
            <a:r>
              <a:rPr lang="en-US" sz="3600" b="1" dirty="0">
                <a:solidFill>
                  <a:srgbClr val="FFFFFF"/>
                </a:solidFill>
                <a:latin typeface="Bookman Old Style" pitchFamily="34" charset="0"/>
                <a:ea typeface="Bookman Old Style" pitchFamily="34" charset="-122"/>
                <a:cs typeface="Bookman Old Style" pitchFamily="34" charset="-120"/>
              </a:rPr>
              <a:t>What the next 18 months buy</a:t>
            </a:r>
            <a:endParaRPr lang="en-US" sz="3600" dirty="0"/>
          </a:p>
        </p:txBody>
      </p:sp>
      <p:sp>
        <p:nvSpPr>
          <p:cNvPr id="4" name="Shape 2"/>
          <p:cNvSpPr/>
          <p:nvPr/>
        </p:nvSpPr>
        <p:spPr>
          <a:xfrm>
            <a:off x="777240" y="2286000"/>
            <a:ext cx="5166360" cy="1143000"/>
          </a:xfrm>
          <a:prstGeom prst="rect">
            <a:avLst/>
          </a:prstGeom>
          <a:solidFill>
            <a:srgbClr val="23282D"/>
          </a:solidFill>
          <a:ln/>
        </p:spPr>
      </p:sp>
      <p:sp>
        <p:nvSpPr>
          <p:cNvPr id="5" name="Text 3"/>
          <p:cNvSpPr/>
          <p:nvPr/>
        </p:nvSpPr>
        <p:spPr>
          <a:xfrm>
            <a:off x="1033272" y="24688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Season 1 shipped</a:t>
            </a:r>
            <a:endParaRPr lang="en-US" sz="1600" dirty="0"/>
          </a:p>
        </p:txBody>
      </p:sp>
      <p:sp>
        <p:nvSpPr>
          <p:cNvPr id="6" name="Text 4"/>
          <p:cNvSpPr/>
          <p:nvPr/>
        </p:nvSpPr>
        <p:spPr>
          <a:xfrm>
            <a:off x="1033272" y="28803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All-genre, clip-first, 45,000 submissions</a:t>
            </a:r>
            <a:endParaRPr lang="en-US" sz="1200" dirty="0"/>
          </a:p>
        </p:txBody>
      </p:sp>
      <p:sp>
        <p:nvSpPr>
          <p:cNvPr id="7" name="Shape 5"/>
          <p:cNvSpPr/>
          <p:nvPr/>
        </p:nvSpPr>
        <p:spPr>
          <a:xfrm>
            <a:off x="6217920" y="2286000"/>
            <a:ext cx="5166360" cy="1143000"/>
          </a:xfrm>
          <a:prstGeom prst="rect">
            <a:avLst/>
          </a:prstGeom>
          <a:solidFill>
            <a:srgbClr val="23282D"/>
          </a:solidFill>
          <a:ln/>
        </p:spPr>
      </p:sp>
      <p:sp>
        <p:nvSpPr>
          <p:cNvPr id="8" name="Text 6"/>
          <p:cNvSpPr/>
          <p:nvPr/>
        </p:nvSpPr>
        <p:spPr>
          <a:xfrm>
            <a:off x="6473952" y="24688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₹12cr GMV settled</a:t>
            </a:r>
            <a:endParaRPr lang="en-US" sz="1600" dirty="0"/>
          </a:p>
        </p:txBody>
      </p:sp>
      <p:sp>
        <p:nvSpPr>
          <p:cNvPr id="9" name="Text 7"/>
          <p:cNvSpPr/>
          <p:nvPr/>
        </p:nvSpPr>
        <p:spPr>
          <a:xfrm>
            <a:off x="6473952" y="28803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Collab and gig, on rail, reconciled</a:t>
            </a:r>
            <a:endParaRPr lang="en-US" sz="1200" dirty="0"/>
          </a:p>
        </p:txBody>
      </p:sp>
      <p:sp>
        <p:nvSpPr>
          <p:cNvPr id="10" name="Shape 8"/>
          <p:cNvSpPr/>
          <p:nvPr/>
        </p:nvSpPr>
        <p:spPr>
          <a:xfrm>
            <a:off x="777240" y="3657600"/>
            <a:ext cx="5166360" cy="1143000"/>
          </a:xfrm>
          <a:prstGeom prst="rect">
            <a:avLst/>
          </a:prstGeom>
          <a:solidFill>
            <a:srgbClr val="23282D"/>
          </a:solidFill>
          <a:ln/>
        </p:spPr>
      </p:sp>
      <p:sp>
        <p:nvSpPr>
          <p:cNvPr id="11" name="Text 9"/>
          <p:cNvSpPr/>
          <p:nvPr/>
        </p:nvSpPr>
        <p:spPr>
          <a:xfrm>
            <a:off x="1033272" y="38404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300 paying manager orgs</a:t>
            </a:r>
            <a:endParaRPr lang="en-US" sz="1600" dirty="0"/>
          </a:p>
        </p:txBody>
      </p:sp>
      <p:sp>
        <p:nvSpPr>
          <p:cNvPr id="12" name="Text 10"/>
          <p:cNvSpPr/>
          <p:nvPr/>
        </p:nvSpPr>
        <p:spPr>
          <a:xfrm>
            <a:off x="1033272" y="42519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Manager OS at scale in four cities</a:t>
            </a:r>
            <a:endParaRPr lang="en-US" sz="1200" dirty="0"/>
          </a:p>
        </p:txBody>
      </p:sp>
      <p:sp>
        <p:nvSpPr>
          <p:cNvPr id="13" name="Shape 11"/>
          <p:cNvSpPr/>
          <p:nvPr/>
        </p:nvSpPr>
        <p:spPr>
          <a:xfrm>
            <a:off x="6217920" y="3657600"/>
            <a:ext cx="5166360" cy="1143000"/>
          </a:xfrm>
          <a:prstGeom prst="rect">
            <a:avLst/>
          </a:prstGeom>
          <a:solidFill>
            <a:srgbClr val="23282D"/>
          </a:solidFill>
          <a:ln/>
        </p:spPr>
      </p:sp>
      <p:sp>
        <p:nvSpPr>
          <p:cNvPr id="14" name="Text 12"/>
          <p:cNvSpPr/>
          <p:nvPr/>
        </p:nvSpPr>
        <p:spPr>
          <a:xfrm>
            <a:off x="6473952" y="3840480"/>
            <a:ext cx="466344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Price index live</a:t>
            </a:r>
            <a:endParaRPr lang="en-US" sz="1600" dirty="0"/>
          </a:p>
        </p:txBody>
      </p:sp>
      <p:sp>
        <p:nvSpPr>
          <p:cNvPr id="15" name="Text 13"/>
          <p:cNvSpPr/>
          <p:nvPr/>
        </p:nvSpPr>
        <p:spPr>
          <a:xfrm>
            <a:off x="6473952" y="4251960"/>
            <a:ext cx="4663440" cy="365760"/>
          </a:xfrm>
          <a:prstGeom prst="rect">
            <a:avLst/>
          </a:prstGeom>
          <a:noFill/>
          <a:ln/>
        </p:spPr>
        <p:txBody>
          <a:bodyPr wrap="square" lIns="0" tIns="0" rIns="0" bIns="0" rtlCol="0" anchor="ctr"/>
          <a:lstStyle/>
          <a:p>
            <a:pPr indent="0" marL="0">
              <a:buNone/>
            </a:pPr>
            <a:r>
              <a:rPr lang="en-US" sz="1200" dirty="0">
                <a:solidFill>
                  <a:srgbClr val="A9B0B8"/>
                </a:solidFill>
                <a:latin typeface="Calibri" pitchFamily="34" charset="0"/>
                <a:ea typeface="Calibri" pitchFamily="34" charset="-122"/>
                <a:cs typeface="Calibri" pitchFamily="34" charset="-120"/>
              </a:rPr>
              <a:t>8 genres × 12 cities at statistical density</a:t>
            </a:r>
            <a:endParaRPr lang="en-US" sz="1200" dirty="0"/>
          </a:p>
        </p:txBody>
      </p:sp>
      <p:sp>
        <p:nvSpPr>
          <p:cNvPr id="16" name="Shape 14"/>
          <p:cNvSpPr/>
          <p:nvPr/>
        </p:nvSpPr>
        <p:spPr>
          <a:xfrm>
            <a:off x="777240" y="5166360"/>
            <a:ext cx="10607040" cy="82296"/>
          </a:xfrm>
          <a:prstGeom prst="rect">
            <a:avLst/>
          </a:prstGeom>
          <a:solidFill>
            <a:srgbClr val="C1272D"/>
          </a:solidFill>
          <a:ln/>
        </p:spPr>
      </p:sp>
      <p:sp>
        <p:nvSpPr>
          <p:cNvPr id="17" name="Text 15"/>
          <p:cNvSpPr/>
          <p:nvPr/>
        </p:nvSpPr>
        <p:spPr>
          <a:xfrm>
            <a:off x="777240" y="5440680"/>
            <a:ext cx="10607040" cy="502920"/>
          </a:xfrm>
          <a:prstGeom prst="rect">
            <a:avLst/>
          </a:prstGeom>
          <a:noFill/>
          <a:ln/>
        </p:spPr>
        <p:txBody>
          <a:bodyPr wrap="square" lIns="0" tIns="0" rIns="0" bIns="0" rtlCol="0" anchor="ctr"/>
          <a:lstStyle/>
          <a:p>
            <a:pPr indent="0" marL="0">
              <a:buNone/>
            </a:pPr>
            <a:r>
              <a:rPr lang="en-US" sz="2600" b="1" dirty="0">
                <a:solidFill>
                  <a:srgbClr val="E8B33A"/>
                </a:solidFill>
                <a:latin typeface="Bookman Old Style" pitchFamily="34" charset="0"/>
                <a:ea typeface="Bookman Old Style" pitchFamily="34" charset="-122"/>
                <a:cs typeface="Bookman Old Style" pitchFamily="34" charset="-120"/>
              </a:rPr>
              <a:t>You don’t need a label. You need a back office.</a:t>
            </a:r>
            <a:endParaRPr lang="en-US" sz="2600" dirty="0"/>
          </a:p>
        </p:txBody>
      </p:sp>
      <p:sp>
        <p:nvSpPr>
          <p:cNvPr id="18" name="Text 16"/>
          <p:cNvSpPr/>
          <p:nvPr/>
        </p:nvSpPr>
        <p:spPr>
          <a:xfrm>
            <a:off x="777240" y="6400800"/>
            <a:ext cx="2743200" cy="228600"/>
          </a:xfrm>
          <a:prstGeom prst="rect">
            <a:avLst/>
          </a:prstGeom>
          <a:noFill/>
          <a:ln/>
        </p:spPr>
        <p:txBody>
          <a:bodyPr wrap="square" lIns="0" tIns="0" rIns="0" bIns="0" rtlCol="0" anchor="ctr"/>
          <a:lstStyle/>
          <a:p>
            <a:pPr indent="0" marL="0">
              <a:buNone/>
            </a:pPr>
            <a:r>
              <a:rPr lang="en-US" sz="900" spc="200" kern="0" dirty="0">
                <a:solidFill>
                  <a:srgbClr val="6A6F76"/>
                </a:solidFill>
                <a:latin typeface="Calibri" pitchFamily="34" charset="0"/>
                <a:ea typeface="Calibri" pitchFamily="34" charset="-122"/>
                <a:cs typeface="Calibri" pitchFamily="34" charset="-120"/>
              </a:rPr>
              <a:t>SHOUTOUT</a:t>
            </a:r>
            <a:endParaRPr lang="en-US" sz="900" dirty="0"/>
          </a:p>
        </p:txBody>
      </p:sp>
      <p:sp>
        <p:nvSpPr>
          <p:cNvPr id="19" name="Text 17"/>
          <p:cNvSpPr/>
          <p:nvPr/>
        </p:nvSpPr>
        <p:spPr>
          <a:xfrm>
            <a:off x="10835640" y="6400800"/>
            <a:ext cx="548640" cy="228600"/>
          </a:xfrm>
          <a:prstGeom prst="rect">
            <a:avLst/>
          </a:prstGeom>
          <a:noFill/>
          <a:ln/>
        </p:spPr>
        <p:txBody>
          <a:bodyPr wrap="square" lIns="0" tIns="0" rIns="0" bIns="0" rtlCol="0" anchor="ctr"/>
          <a:lstStyle/>
          <a:p>
            <a:pPr algn="r" indent="0" marL="0">
              <a:buNone/>
            </a:pPr>
            <a:r>
              <a:rPr lang="en-US" sz="900" dirty="0">
                <a:solidFill>
                  <a:srgbClr val="6A6F7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SHOUTOUT — Investor Deck</dc:title>
  <dc:subject>PptxGenJS Presentation</dc:subject>
  <dc:creator>Anchit Tandon</dc:creator>
  <cp:lastModifiedBy>Anchit Tandon</cp:lastModifiedBy>
  <cp:revision>1</cp:revision>
  <dcterms:created xsi:type="dcterms:W3CDTF">2026-08-21T22:14:54Z</dcterms:created>
  <dcterms:modified xsi:type="dcterms:W3CDTF">2026-08-21T22:14:54Z</dcterms:modified>
</cp:coreProperties>
</file>